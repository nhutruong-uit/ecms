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0:00 → 0:20 (20 giây) · Trình bày: Như</a:t>
            </a:r>
          </a:p>
          <a:p>
            <a:r>
              <a:t>• Chào thầy và các bạn; nhóm 1 trình bày đồ án ECMS – Hệ thống quản lý trung tâm tiếng Anh.</a:t>
            </a:r>
          </a:p>
          <a:p>
            <a:r>
              <a:t>• Giới thiệu nhanh năm thành viên; hình bên phải là dashboard thật của ứng dụng.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 → 0:40 (20 giây) · Trình bày: Như</a:t>
            </a:r>
          </a:p>
          <a:p>
            <a:r>
              <a:t>• Sáu phần theo đúng quy trình quản lý thông tin của môn học; mỗi phần do người phụ trách phần việc đó trình bày.</a:t>
            </a:r>
          </a:p>
          <a:p>
            <a:r>
              <a:t>• Phần cuối có demo trực tiếp khoảng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0:40 → 1:30 (50 giây) · Trình bày: Như</a:t>
            </a:r>
          </a:p>
          <a:p>
            <a:r>
              <a:t>• Chuỗi 3 chi nhánh, 4 chương trình (IELTS, TOEIC, Giao tiếp, Thiếu nhi); vòng đời học viên đi qua 7 bước.</a:t>
            </a:r>
          </a:p>
          <a:p>
            <a:r>
              <a:t>• Hiện trạng: Mỗi chi nhánh một tệp Excel – dữ liệu trùng, không kiểm soát được sĩ số, trùng phòng; báo cáo doanh thu chép tay mất một đến hai ngày mỗi cuối tháng.</a:t>
            </a:r>
          </a:p>
          <a:p>
            <a:r>
              <a:t>• Mục tiêu: Một CSDL tập trung, luật nghiệp vụ đặt ngay trong CSDL, ứng dụng web theo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1:30 → 2:20 (50 giây) · Trình bày: Như</a:t>
            </a:r>
          </a:p>
          <a:p>
            <a:r>
              <a:t>• 6 tác nhân, mỗi tác nhân ánh xạ sang một role trong SQL Server; 22 yêu cầu chức năng, 8 phi chức năng, 7 báo cáo.</a:t>
            </a:r>
          </a:p>
          <a:p>
            <a:r>
              <a:t>• DIKW trên số liệu thật: 10.063 lượt điểm danh → HV0021 chuyên cần 56,25% → nhóm chuyên cần dưới 80% có tỷ lệ không đạt 33,3%, gấp 3 nhóm còn lại (11,1%) → hành động: Gọi điện, xếp học bù sớm.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2:20 → 3:20 (60 giây) · Trình bày: Trâm</a:t>
            </a:r>
          </a:p>
          <a:p>
            <a:r>
              <a:t>• ERD ký hiệu Chen: 14 tập thực thể, 22 mối kết hợp, bản số (min, max) đặt sát thực thể tham gia.</a:t>
            </a:r>
          </a:p>
          <a:p>
            <a:r>
              <a:t>• Chỉ vào: Thực thể yếu PHONGHOC, BUOIHOC (viền đôi); ISA NHANVIEN → GIAOVIEN; LỊCH HỌC ba ngôi.</a:t>
            </a:r>
          </a:p>
          <a:p>
            <a:r>
              <a:t>• Sơ đồ lớp UML vẽ cho cùng bài toán để đối chiếu: Kế thừa, thành phần, kết tập.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3:20 → 4:10 (50 giây) · Trình bày: Trâm</a:t>
            </a:r>
          </a:p>
          <a:p>
            <a:r>
              <a:t>• Chuyển ERD sang 22 lược đồ quan hệ, kiểm tra dạng chuẩn trên khoá dự tuyển: 16 BCNF, 4 đạt 2NF do lưu giá trị suy diễn, 2 vi phạm 2NF có chủ đích để khai báo khoá ngoại phức hợp thay cho trigger.</a:t>
            </a:r>
          </a:p>
          <a:p>
            <a:r>
              <a:t>• Cài đặt: 33 khoá ngoại, 53 CHECK, 8 cột tính toán, 23 chỉ mục; 21 ràng buộc toàn vẹn có bảng tầm ảnh hưởng.</a:t>
            </a:r>
          </a:p>
          <a:p>
            <a:r>
              <a:t>• Dữ liệu mẫu sinh theo trình tự nghiệp vụ, có sẵn trường hợp biên.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4:10 → 5:05 (55 giây) · Trình bày: Dương</a:t>
            </a:r>
          </a:p>
          <a:p>
            <a:r>
              <a:t>• 31 truy vấn SQL chia 6 nhóm kỹ thuật, mỗi câu trả lời một câu hỏi quản lý thực tế (gợi ý chạy thử Q18, Q24).</a:t>
            </a:r>
          </a:p>
          <a:p>
            <a:r>
              <a:t>• Đo trên bảng điểm danh nhân bản 1.000.000 dòng: Chỉ mục giảm từ 6.023 trang xuống 3 trang (một đăng ký) và 150 trang (một lớp).</a:t>
            </a:r>
          </a:p>
          <a:p>
            <a:r>
              <a:t>• XML: Kết quả kiểm tra đầu vào lưu cột XML có XML Schema, điểm ngoài 0–10 bị từ chối; chỉ mục XML có lợi ở quy mô thật nhưng bất lợi khi gấp 30 lần – không phải chỉ mục nào cũng tốt.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5:05 → 6:05 (60 giây) · Trình bày: Như · Giang</a:t>
            </a:r>
          </a:p>
          <a:p>
            <a:r>
              <a:t>• Như (30 giây): Đi từ ngoài vào trong – TLS, băm lặp có salt và tạm khoá, login ứng dụng bị DENY mọi bảng, danh tính ghi vào SESSION_CONTEXT chỉ đọc nên mã bị chèn không đổi được; thiếu ngữ cảnh thì từ chối.</a:t>
            </a:r>
          </a:p>
          <a:p>
            <a:r>
              <a:t>• Giang (30 giây): View bảo mật theo cột, mã hoá lưu trữ, kiểm toán; sao lưu Full tuần, vi sai ngày, nhật ký 15 phút → RPO 15 phút; diễn tập phục hồi đúng thời điểm mất 607–810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6:05 → 6:55 (50 giây) · Trình bày: Phú</a:t>
            </a:r>
          </a:p>
          <a:p>
            <a:r>
              <a:t>• 40 procedure, 17 function, 14 trigger và cursor đóng gói mọi quy tắc nghiệp vụ; giao diện chỉ gọi procedure.</a:t>
            </a:r>
          </a:p>
          <a:p>
            <a:r>
              <a:t>• Ví dụ ghi danh: sp_DangKyHoc khoá dòng lớp bằng UPDLOCK, HOLDLOCK nên hai giáo vụ ghi danh cùng lúc không vượt sĩ số; lỗi nghiệp vụ trả bằng THROW 50004 kèm thông báo tiếng Việt, giao diện hiện nguyên văn.</a:t>
            </a:r>
          </a:p>
          <a:p>
            <a:r>
              <a:t>• Cursor được so sánh công bằng với cách xử lý theo tập hợp: Tập hợp nhanh hơn 1,1–6,9 lần.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6:55 → 7:35 (40 giây) · Trình bày: Giang</a:t>
            </a:r>
          </a:p>
          <a:p>
            <a:r>
              <a:t>• Menu rộng và nông: 2 cấp, 8 nhóm theo nghiệp vụ, mục bị ẩn theo vai trò và chặn cả khi gõ thẳng URL (ảnh: Giáo viên chỉ thấy Học tập, Báo cáo, Hệ thống).</a:t>
            </a:r>
          </a:p>
          <a:p>
            <a:r>
              <a:t>• Form master–detail phiếu thu: Một phiếu nhiều khoản, thu một phần, lưu trong một giao dịch sp_ThuHocPhi.</a:t>
            </a:r>
          </a:p>
          <a:p>
            <a:r>
              <a:t>• Kiểm tra hai lớp: Lỗi hiện ngay dưới ô nhập, CSDL kiểm tra lại lần nữa.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7:35 → 8:15 (40 giây) · Trình bày: Giang</a:t>
            </a:r>
          </a:p>
          <a:p>
            <a:r>
              <a:t>• 7 báo cáo: Định kỳ, theo yêu cầu, tổng hợp, biểu mẫu; xuất PDF (A4, phiếu thu A5), Excel, Word, giữ tô màu có điều kiện và dòng trung bình, nhỏ nhất, lớn nhất.</a:t>
            </a:r>
          </a:p>
          <a:p>
            <a:r>
              <a:t>• Báo cáo PDF có đủ Report / Page / Group header – footer, đánh số Trang X / Y – đối chiếu Crystal Report (Lab 4).</a:t>
            </a:r>
          </a:p>
          <a:p>
            <a:r>
              <a:t>• Dashboard 6 KPI có mốc so sánh (kỳ trước, cùng kỳ, mục tiêu) – tầng Tri thức của DIKW.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8:15 → 9:25 (70 giây) · Trình bày: Trâm · Phú · Dương</a:t>
            </a:r>
          </a:p>
          <a:p>
            <a:r>
              <a:t>• Trâm (20 giây): Hướng đối tượng – lược đồ ODL 16 lớp, OID, ba cách ánh xạ kế thừa; nạp lười sinh 889 câu SQL so với 1 câu khi nạp trước.</a:t>
            </a:r>
          </a:p>
          <a:p>
            <a:r>
              <a:t>• Phú (25 giây): Phân tán theo chi nhánh – 3 trạm, phân mảnh ngang/dọc/hỗn hợp, nửa kết giảm 73% byte truyền, cam kết hai pha qua MSDTC chạy thật giữa hai máy.</a:t>
            </a:r>
          </a:p>
          <a:p>
            <a:r>
              <a:t>• Dương (25 giây): NoSQL – 14 bảng thành 4 collection MongoDB; đọc trọn hồ sơ 0,70 ms so với 3,62 ms nhưng sửa dữ liệu dùng chung phải sửa mọi bản nhúng. Kết luận: Polyglot persistence, SQL Server là nguồn gốc.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9:25 → 9:55 (30 giây) · Trình bày: Như</a:t>
            </a:r>
          </a:p>
          <a:p>
            <a:r>
              <a:t>• Toàn bộ chạy lại từ CSDL trống trong 1–2 phút, tự động bằng GitHub Actions khi có Pull Request hoặc push vào main.</a:t>
            </a:r>
          </a:p>
          <a:p>
            <a:r>
              <a:t>• 114 ca kiểm thử SQL (39 procedure, 22 trigger, 53 phân quyền) và 125 ca kiểm thử giao diện đều đạt.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9:55 → 12:55 (180 giây) · Trình bày: Cả nhóm</a:t>
            </a:r>
          </a:p>
          <a:p>
            <a:r>
              <a:t>• Chuẩn bị sẵn 5 tab trình duyệt đã đăng nhập 5 vai trò, CSDL vừa dựng lại; mỗi bước khoảng 35 giây.</a:t>
            </a:r>
          </a:p>
          <a:p>
            <a:r>
              <a:t>• Giáo vụ: Ghi danh vào lớp đầy để thấy lỗi từ CSDL. Kế toán: Lập phiếu thu 2 khoản rồi in PDF A5.</a:t>
            </a:r>
          </a:p>
          <a:p>
            <a:r>
              <a:t>• Giáo viên: Điểm danh cả lớp, quét cảnh báo chuyên cần. Học viên: Chỉ thấy dữ liệu của mình.</a:t>
            </a:r>
          </a:p>
          <a:p>
            <a:r>
              <a:t>• Quản lý: Dashboard, rồi mở nhật ký hệ thống để thấy các thao tác vừa làm. Thiếu thời gian thì bỏ bước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12:55 → 13:15 (20 giây) · Trình bày: Như</a:t>
            </a:r>
          </a:p>
          <a:p>
            <a:r>
              <a:t>• Mỗi thành viên phụ trách 5–7 công việc trải đủ thiết kế, xử lý, giao diện và CSDL tiên tiến.</a:t>
            </a:r>
          </a:p>
          <a:p>
            <a:r>
              <a:t>• Số commit chênh lệch vì nhóm trưởng làm thêm hạ tầng chung và đợt khắc phục T30; nhóm thống nhất mỗi người 20%.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13:15 → 13:55 (40 giây) · Trình bày: Như</a:t>
            </a:r>
          </a:p>
          <a:p>
            <a:r>
              <a:t>• Thông điệp chính: Luật nghiệp vụ nằm trong CSDL nên không ứng dụng nào bỏ qua được.</a:t>
            </a:r>
          </a:p>
          <a:p>
            <a:r>
              <a:t>• Nêu thẳng hạn chế: Chưa kiểm thử tải, phân tán phần lớn mô phỏng, các tính năng bảo mật nâng cao mới chạy thử.</a:t>
            </a:r>
          </a:p>
          <a:p>
            <a:r>
              <a:t>• Hướng phát triển nâng hệ thống lên tầng Trí tuệ của DIKW: Dự báo học viên bỏ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13:55 → 14:05 (10 giây) · Trình bày: Như (cả nhóm trả lời)</a:t>
            </a:r>
          </a:p>
          <a:p>
            <a:r>
              <a:t>• Câu hỏi đã chuẩn bị: Vì sao đặt luật nghiệp vụ trong CSDL; vì sao chọn SQL Server thay vì MongoDB; SESSION_CONTEXT có an toàn khi dùng chung một login; khi nào nên dùng cursor; RPO, RTO đạt bao nhiêu.</a:t>
            </a:r>
          </a:p>
          <a:p>
            <a:r>
              <a:t>• Người trả lời: Phần nào người phụ trách phần đó trả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7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37.png"/><Relationship Id="rId7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22.png"/><Relationship Id="rId6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41.jp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5" Type="http://schemas.openxmlformats.org/officeDocument/2006/relationships/image" Target="../media/image7.png"/><Relationship Id="rId6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5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6.png"/><Relationship Id="rId9" Type="http://schemas.openxmlformats.org/officeDocument/2006/relationships/image" Target="../media/image48.png"/><Relationship Id="rId10" Type="http://schemas.openxmlformats.org/officeDocument/2006/relationships/image" Target="../media/image5.png"/><Relationship Id="rId11" Type="http://schemas.openxmlformats.org/officeDocument/2006/relationships/image" Target="../media/image4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40.png"/><Relationship Id="rId6" Type="http://schemas.openxmlformats.org/officeDocument/2006/relationships/image" Target="../media/image50.png"/><Relationship Id="rId7" Type="http://schemas.openxmlformats.org/officeDocument/2006/relationships/image" Target="../media/image17.png"/><Relationship Id="rId8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1.png"/><Relationship Id="rId4" Type="http://schemas.openxmlformats.org/officeDocument/2006/relationships/image" Target="../media/image1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49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7680960" y="0"/>
            <a:ext cx="4510735" cy="4663440"/>
          </a:xfrm>
          <a:custGeom>
            <a:avLst/>
            <a:gdLst/>
            <a:ahLst/>
            <a:cxnLst/>
            <a:rect l="l" t="t" r="r" b="b"/>
            <a:pathLst>
              <a:path w="4510735" h="4663440">
                <a:moveTo>
                  <a:pt x="4510735" y="0"/>
                </a:moveTo>
                <a:lnTo>
                  <a:pt x="4510735" y="4429354"/>
                </a:lnTo>
                <a:lnTo>
                  <a:pt x="4471530" y="4444797"/>
                </a:lnTo>
                <a:lnTo>
                  <a:pt x="4417716" y="4464918"/>
                </a:lnTo>
                <a:lnTo>
                  <a:pt x="4363558" y="4484096"/>
                </a:lnTo>
                <a:lnTo>
                  <a:pt x="4309075" y="4502326"/>
                </a:lnTo>
                <a:lnTo>
                  <a:pt x="4254281" y="4519602"/>
                </a:lnTo>
                <a:lnTo>
                  <a:pt x="4199194" y="4535920"/>
                </a:lnTo>
                <a:lnTo>
                  <a:pt x="4143831" y="4551273"/>
                </a:lnTo>
                <a:lnTo>
                  <a:pt x="4088208" y="4565658"/>
                </a:lnTo>
                <a:lnTo>
                  <a:pt x="4032343" y="4579070"/>
                </a:lnTo>
                <a:lnTo>
                  <a:pt x="3976252" y="4591505"/>
                </a:lnTo>
                <a:lnTo>
                  <a:pt x="3919953" y="4602960"/>
                </a:lnTo>
                <a:lnTo>
                  <a:pt x="3863462" y="4613430"/>
                </a:lnTo>
                <a:lnTo>
                  <a:pt x="3806797" y="4622912"/>
                </a:lnTo>
                <a:lnTo>
                  <a:pt x="3749976" y="4631404"/>
                </a:lnTo>
                <a:lnTo>
                  <a:pt x="3693014" y="4638903"/>
                </a:lnTo>
                <a:lnTo>
                  <a:pt x="3635931" y="4645407"/>
                </a:lnTo>
                <a:lnTo>
                  <a:pt x="3578743" y="4650914"/>
                </a:lnTo>
                <a:lnTo>
                  <a:pt x="3521467" y="4655421"/>
                </a:lnTo>
                <a:lnTo>
                  <a:pt x="3464122" y="4658929"/>
                </a:lnTo>
                <a:lnTo>
                  <a:pt x="3406724" y="4661435"/>
                </a:lnTo>
                <a:lnTo>
                  <a:pt x="3349291" y="4662939"/>
                </a:lnTo>
                <a:lnTo>
                  <a:pt x="3291840" y="4663440"/>
                </a:lnTo>
                <a:lnTo>
                  <a:pt x="3234389" y="4662939"/>
                </a:lnTo>
                <a:lnTo>
                  <a:pt x="3176956" y="4661435"/>
                </a:lnTo>
                <a:lnTo>
                  <a:pt x="3119558" y="4658929"/>
                </a:lnTo>
                <a:lnTo>
                  <a:pt x="3062213" y="4655421"/>
                </a:lnTo>
                <a:lnTo>
                  <a:pt x="3004937" y="4650914"/>
                </a:lnTo>
                <a:lnTo>
                  <a:pt x="2947749" y="4645407"/>
                </a:lnTo>
                <a:lnTo>
                  <a:pt x="2890666" y="4638903"/>
                </a:lnTo>
                <a:lnTo>
                  <a:pt x="2833704" y="4631404"/>
                </a:lnTo>
                <a:lnTo>
                  <a:pt x="2776883" y="4622912"/>
                </a:lnTo>
                <a:lnTo>
                  <a:pt x="2720218" y="4613430"/>
                </a:lnTo>
                <a:lnTo>
                  <a:pt x="2663727" y="4602960"/>
                </a:lnTo>
                <a:lnTo>
                  <a:pt x="2607428" y="4591505"/>
                </a:lnTo>
                <a:lnTo>
                  <a:pt x="2551337" y="4579070"/>
                </a:lnTo>
                <a:lnTo>
                  <a:pt x="2495472" y="4565658"/>
                </a:lnTo>
                <a:lnTo>
                  <a:pt x="2439849" y="4551273"/>
                </a:lnTo>
                <a:lnTo>
                  <a:pt x="2384486" y="4535920"/>
                </a:lnTo>
                <a:lnTo>
                  <a:pt x="2329399" y="4519602"/>
                </a:lnTo>
                <a:lnTo>
                  <a:pt x="2274605" y="4502326"/>
                </a:lnTo>
                <a:lnTo>
                  <a:pt x="2220122" y="4484096"/>
                </a:lnTo>
                <a:lnTo>
                  <a:pt x="2165964" y="4464918"/>
                </a:lnTo>
                <a:lnTo>
                  <a:pt x="2112150" y="4444797"/>
                </a:lnTo>
                <a:lnTo>
                  <a:pt x="2058695" y="4423741"/>
                </a:lnTo>
                <a:lnTo>
                  <a:pt x="2005616" y="4401755"/>
                </a:lnTo>
                <a:lnTo>
                  <a:pt x="1952928" y="4378845"/>
                </a:lnTo>
                <a:lnTo>
                  <a:pt x="1900648" y="4355020"/>
                </a:lnTo>
                <a:lnTo>
                  <a:pt x="1848792" y="4330286"/>
                </a:lnTo>
                <a:lnTo>
                  <a:pt x="1797376" y="4304651"/>
                </a:lnTo>
                <a:lnTo>
                  <a:pt x="1746415" y="4278122"/>
                </a:lnTo>
                <a:lnTo>
                  <a:pt x="1695924" y="4250708"/>
                </a:lnTo>
                <a:lnTo>
                  <a:pt x="1645920" y="4222417"/>
                </a:lnTo>
                <a:lnTo>
                  <a:pt x="1596417" y="4193258"/>
                </a:lnTo>
                <a:lnTo>
                  <a:pt x="1547431" y="4163239"/>
                </a:lnTo>
                <a:lnTo>
                  <a:pt x="1498975" y="4132369"/>
                </a:lnTo>
                <a:lnTo>
                  <a:pt x="1451066" y="4100659"/>
                </a:lnTo>
                <a:lnTo>
                  <a:pt x="1403718" y="4068117"/>
                </a:lnTo>
                <a:lnTo>
                  <a:pt x="1356945" y="4034755"/>
                </a:lnTo>
                <a:lnTo>
                  <a:pt x="1310761" y="4000580"/>
                </a:lnTo>
                <a:lnTo>
                  <a:pt x="1265181" y="3965605"/>
                </a:lnTo>
                <a:lnTo>
                  <a:pt x="1220218" y="3929840"/>
                </a:lnTo>
                <a:lnTo>
                  <a:pt x="1175886" y="3893296"/>
                </a:lnTo>
                <a:lnTo>
                  <a:pt x="1132199" y="3855983"/>
                </a:lnTo>
                <a:lnTo>
                  <a:pt x="1089169" y="3817914"/>
                </a:lnTo>
                <a:lnTo>
                  <a:pt x="1046811" y="3779099"/>
                </a:lnTo>
                <a:lnTo>
                  <a:pt x="1005136" y="3739552"/>
                </a:lnTo>
                <a:lnTo>
                  <a:pt x="964158" y="3699282"/>
                </a:lnTo>
                <a:lnTo>
                  <a:pt x="923888" y="3658304"/>
                </a:lnTo>
                <a:lnTo>
                  <a:pt x="884341" y="3616629"/>
                </a:lnTo>
                <a:lnTo>
                  <a:pt x="845526" y="3574271"/>
                </a:lnTo>
                <a:lnTo>
                  <a:pt x="807457" y="3531241"/>
                </a:lnTo>
                <a:lnTo>
                  <a:pt x="770144" y="3487554"/>
                </a:lnTo>
                <a:lnTo>
                  <a:pt x="733600" y="3443222"/>
                </a:lnTo>
                <a:lnTo>
                  <a:pt x="697835" y="3398259"/>
                </a:lnTo>
                <a:lnTo>
                  <a:pt x="662860" y="3352679"/>
                </a:lnTo>
                <a:lnTo>
                  <a:pt x="628685" y="3306495"/>
                </a:lnTo>
                <a:lnTo>
                  <a:pt x="595323" y="3259722"/>
                </a:lnTo>
                <a:lnTo>
                  <a:pt x="562781" y="3212374"/>
                </a:lnTo>
                <a:lnTo>
                  <a:pt x="531071" y="3164465"/>
                </a:lnTo>
                <a:lnTo>
                  <a:pt x="500201" y="3116009"/>
                </a:lnTo>
                <a:lnTo>
                  <a:pt x="470182" y="3067023"/>
                </a:lnTo>
                <a:lnTo>
                  <a:pt x="441023" y="3017520"/>
                </a:lnTo>
                <a:lnTo>
                  <a:pt x="412732" y="2967516"/>
                </a:lnTo>
                <a:lnTo>
                  <a:pt x="385318" y="2917025"/>
                </a:lnTo>
                <a:lnTo>
                  <a:pt x="358789" y="2866064"/>
                </a:lnTo>
                <a:lnTo>
                  <a:pt x="333154" y="2814648"/>
                </a:lnTo>
                <a:lnTo>
                  <a:pt x="308420" y="2762792"/>
                </a:lnTo>
                <a:lnTo>
                  <a:pt x="284595" y="2710512"/>
                </a:lnTo>
                <a:lnTo>
                  <a:pt x="261685" y="2657824"/>
                </a:lnTo>
                <a:lnTo>
                  <a:pt x="239699" y="2604745"/>
                </a:lnTo>
                <a:lnTo>
                  <a:pt x="218643" y="2551290"/>
                </a:lnTo>
                <a:lnTo>
                  <a:pt x="198522" y="2497476"/>
                </a:lnTo>
                <a:lnTo>
                  <a:pt x="179344" y="2443318"/>
                </a:lnTo>
                <a:lnTo>
                  <a:pt x="161114" y="2388835"/>
                </a:lnTo>
                <a:lnTo>
                  <a:pt x="143838" y="2334041"/>
                </a:lnTo>
                <a:lnTo>
                  <a:pt x="127520" y="2278954"/>
                </a:lnTo>
                <a:lnTo>
                  <a:pt x="112167" y="2223591"/>
                </a:lnTo>
                <a:lnTo>
                  <a:pt x="97782" y="2167968"/>
                </a:lnTo>
                <a:lnTo>
                  <a:pt x="84370" y="2112103"/>
                </a:lnTo>
                <a:lnTo>
                  <a:pt x="71935" y="2056012"/>
                </a:lnTo>
                <a:lnTo>
                  <a:pt x="60480" y="1999713"/>
                </a:lnTo>
                <a:lnTo>
                  <a:pt x="50010" y="1943222"/>
                </a:lnTo>
                <a:lnTo>
                  <a:pt x="40528" y="1886557"/>
                </a:lnTo>
                <a:lnTo>
                  <a:pt x="32036" y="1829736"/>
                </a:lnTo>
                <a:lnTo>
                  <a:pt x="24537" y="1772774"/>
                </a:lnTo>
                <a:lnTo>
                  <a:pt x="18033" y="1715691"/>
                </a:lnTo>
                <a:lnTo>
                  <a:pt x="12526" y="1658503"/>
                </a:lnTo>
                <a:lnTo>
                  <a:pt x="8019" y="1601227"/>
                </a:lnTo>
                <a:lnTo>
                  <a:pt x="4511" y="1543882"/>
                </a:lnTo>
                <a:lnTo>
                  <a:pt x="2005" y="1486484"/>
                </a:lnTo>
                <a:lnTo>
                  <a:pt x="501" y="1429051"/>
                </a:lnTo>
                <a:lnTo>
                  <a:pt x="0" y="1371600"/>
                </a:lnTo>
                <a:lnTo>
                  <a:pt x="501" y="1314149"/>
                </a:lnTo>
                <a:lnTo>
                  <a:pt x="2005" y="1256716"/>
                </a:lnTo>
                <a:lnTo>
                  <a:pt x="4511" y="1199318"/>
                </a:lnTo>
                <a:lnTo>
                  <a:pt x="8019" y="1141973"/>
                </a:lnTo>
                <a:lnTo>
                  <a:pt x="12526" y="1084697"/>
                </a:lnTo>
                <a:lnTo>
                  <a:pt x="18033" y="1027509"/>
                </a:lnTo>
                <a:lnTo>
                  <a:pt x="24537" y="970426"/>
                </a:lnTo>
                <a:lnTo>
                  <a:pt x="32036" y="913464"/>
                </a:lnTo>
                <a:lnTo>
                  <a:pt x="40528" y="856643"/>
                </a:lnTo>
                <a:lnTo>
                  <a:pt x="50010" y="799978"/>
                </a:lnTo>
                <a:lnTo>
                  <a:pt x="60480" y="743487"/>
                </a:lnTo>
                <a:lnTo>
                  <a:pt x="71935" y="687188"/>
                </a:lnTo>
                <a:lnTo>
                  <a:pt x="84370" y="631097"/>
                </a:lnTo>
                <a:lnTo>
                  <a:pt x="97782" y="575232"/>
                </a:lnTo>
                <a:lnTo>
                  <a:pt x="112167" y="519609"/>
                </a:lnTo>
                <a:lnTo>
                  <a:pt x="127520" y="464246"/>
                </a:lnTo>
                <a:lnTo>
                  <a:pt x="143838" y="409159"/>
                </a:lnTo>
                <a:lnTo>
                  <a:pt x="161114" y="354365"/>
                </a:lnTo>
                <a:lnTo>
                  <a:pt x="179344" y="299882"/>
                </a:lnTo>
                <a:lnTo>
                  <a:pt x="198522" y="245724"/>
                </a:lnTo>
                <a:lnTo>
                  <a:pt x="218643" y="191910"/>
                </a:lnTo>
                <a:lnTo>
                  <a:pt x="239699" y="138455"/>
                </a:lnTo>
                <a:lnTo>
                  <a:pt x="261685" y="85376"/>
                </a:lnTo>
                <a:lnTo>
                  <a:pt x="284595" y="32688"/>
                </a:lnTo>
                <a:lnTo>
                  <a:pt x="299491" y="0"/>
                </a:lnTo>
                <a:close/>
              </a:path>
            </a:pathLst>
          </a:custGeom>
          <a:solidFill>
            <a:srgbClr val="1A33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0241280" y="4846320"/>
            <a:ext cx="1950415" cy="2011680"/>
          </a:xfrm>
          <a:custGeom>
            <a:avLst/>
            <a:gdLst/>
            <a:ahLst/>
            <a:cxnLst/>
            <a:rect l="l" t="t" r="r" b="b"/>
            <a:pathLst>
              <a:path w="1950415" h="2011680">
                <a:moveTo>
                  <a:pt x="1950415" y="2011680"/>
                </a:moveTo>
                <a:lnTo>
                  <a:pt x="68779" y="2011680"/>
                </a:lnTo>
                <a:lnTo>
                  <a:pt x="67923" y="2008966"/>
                </a:lnTo>
                <a:lnTo>
                  <a:pt x="60218" y="1982953"/>
                </a:lnTo>
                <a:lnTo>
                  <a:pt x="52968" y="1956809"/>
                </a:lnTo>
                <a:lnTo>
                  <a:pt x="46175" y="1930543"/>
                </a:lnTo>
                <a:lnTo>
                  <a:pt x="39841" y="1904162"/>
                </a:lnTo>
                <a:lnTo>
                  <a:pt x="33969" y="1877675"/>
                </a:lnTo>
                <a:lnTo>
                  <a:pt x="28560" y="1851089"/>
                </a:lnTo>
                <a:lnTo>
                  <a:pt x="23616" y="1824413"/>
                </a:lnTo>
                <a:lnTo>
                  <a:pt x="19138" y="1797654"/>
                </a:lnTo>
                <a:lnTo>
                  <a:pt x="15128" y="1770822"/>
                </a:lnTo>
                <a:lnTo>
                  <a:pt x="11587" y="1743923"/>
                </a:lnTo>
                <a:lnTo>
                  <a:pt x="8516" y="1716967"/>
                </a:lnTo>
                <a:lnTo>
                  <a:pt x="5915" y="1689962"/>
                </a:lnTo>
                <a:lnTo>
                  <a:pt x="3787" y="1662915"/>
                </a:lnTo>
                <a:lnTo>
                  <a:pt x="2130" y="1635835"/>
                </a:lnTo>
                <a:lnTo>
                  <a:pt x="947" y="1608731"/>
                </a:lnTo>
                <a:lnTo>
                  <a:pt x="237" y="1581609"/>
                </a:lnTo>
                <a:lnTo>
                  <a:pt x="0" y="1554480"/>
                </a:lnTo>
                <a:lnTo>
                  <a:pt x="237" y="1527351"/>
                </a:lnTo>
                <a:lnTo>
                  <a:pt x="947" y="1500229"/>
                </a:lnTo>
                <a:lnTo>
                  <a:pt x="2130" y="1473125"/>
                </a:lnTo>
                <a:lnTo>
                  <a:pt x="3787" y="1446045"/>
                </a:lnTo>
                <a:lnTo>
                  <a:pt x="5915" y="1418998"/>
                </a:lnTo>
                <a:lnTo>
                  <a:pt x="8516" y="1391993"/>
                </a:lnTo>
                <a:lnTo>
                  <a:pt x="11587" y="1365037"/>
                </a:lnTo>
                <a:lnTo>
                  <a:pt x="15128" y="1338138"/>
                </a:lnTo>
                <a:lnTo>
                  <a:pt x="19138" y="1311306"/>
                </a:lnTo>
                <a:lnTo>
                  <a:pt x="23616" y="1284547"/>
                </a:lnTo>
                <a:lnTo>
                  <a:pt x="28560" y="1257871"/>
                </a:lnTo>
                <a:lnTo>
                  <a:pt x="33969" y="1231285"/>
                </a:lnTo>
                <a:lnTo>
                  <a:pt x="39841" y="1204798"/>
                </a:lnTo>
                <a:lnTo>
                  <a:pt x="46175" y="1178417"/>
                </a:lnTo>
                <a:lnTo>
                  <a:pt x="52968" y="1152151"/>
                </a:lnTo>
                <a:lnTo>
                  <a:pt x="60218" y="1126007"/>
                </a:lnTo>
                <a:lnTo>
                  <a:pt x="67923" y="1099994"/>
                </a:lnTo>
                <a:lnTo>
                  <a:pt x="76082" y="1074119"/>
                </a:lnTo>
                <a:lnTo>
                  <a:pt x="84690" y="1048391"/>
                </a:lnTo>
                <a:lnTo>
                  <a:pt x="93747" y="1022817"/>
                </a:lnTo>
                <a:lnTo>
                  <a:pt x="103248" y="997404"/>
                </a:lnTo>
                <a:lnTo>
                  <a:pt x="113191" y="972162"/>
                </a:lnTo>
                <a:lnTo>
                  <a:pt x="123574" y="947096"/>
                </a:lnTo>
                <a:lnTo>
                  <a:pt x="134392" y="922216"/>
                </a:lnTo>
                <a:lnTo>
                  <a:pt x="145643" y="897528"/>
                </a:lnTo>
                <a:lnTo>
                  <a:pt x="157323" y="873041"/>
                </a:lnTo>
                <a:lnTo>
                  <a:pt x="169428" y="848761"/>
                </a:lnTo>
                <a:lnTo>
                  <a:pt x="181956" y="824696"/>
                </a:lnTo>
                <a:lnTo>
                  <a:pt x="194901" y="800853"/>
                </a:lnTo>
                <a:lnTo>
                  <a:pt x="208261" y="777240"/>
                </a:lnTo>
                <a:lnTo>
                  <a:pt x="222031" y="753864"/>
                </a:lnTo>
                <a:lnTo>
                  <a:pt x="236206" y="730731"/>
                </a:lnTo>
                <a:lnTo>
                  <a:pt x="250783" y="707850"/>
                </a:lnTo>
                <a:lnTo>
                  <a:pt x="265758" y="685226"/>
                </a:lnTo>
                <a:lnTo>
                  <a:pt x="281125" y="662867"/>
                </a:lnTo>
                <a:lnTo>
                  <a:pt x="296879" y="640780"/>
                </a:lnTo>
                <a:lnTo>
                  <a:pt x="313017" y="618971"/>
                </a:lnTo>
                <a:lnTo>
                  <a:pt x="329533" y="597447"/>
                </a:lnTo>
                <a:lnTo>
                  <a:pt x="346422" y="576214"/>
                </a:lnTo>
                <a:lnTo>
                  <a:pt x="363679" y="555280"/>
                </a:lnTo>
                <a:lnTo>
                  <a:pt x="381299" y="534649"/>
                </a:lnTo>
                <a:lnTo>
                  <a:pt x="399276" y="514330"/>
                </a:lnTo>
                <a:lnTo>
                  <a:pt x="417605" y="494327"/>
                </a:lnTo>
                <a:lnTo>
                  <a:pt x="436281" y="474647"/>
                </a:lnTo>
                <a:lnTo>
                  <a:pt x="455297" y="455297"/>
                </a:lnTo>
                <a:lnTo>
                  <a:pt x="474647" y="436281"/>
                </a:lnTo>
                <a:lnTo>
                  <a:pt x="494327" y="417605"/>
                </a:lnTo>
                <a:lnTo>
                  <a:pt x="514330" y="399276"/>
                </a:lnTo>
                <a:lnTo>
                  <a:pt x="534649" y="381299"/>
                </a:lnTo>
                <a:lnTo>
                  <a:pt x="555280" y="363679"/>
                </a:lnTo>
                <a:lnTo>
                  <a:pt x="576214" y="346422"/>
                </a:lnTo>
                <a:lnTo>
                  <a:pt x="597447" y="329533"/>
                </a:lnTo>
                <a:lnTo>
                  <a:pt x="618971" y="313017"/>
                </a:lnTo>
                <a:lnTo>
                  <a:pt x="640780" y="296879"/>
                </a:lnTo>
                <a:lnTo>
                  <a:pt x="662867" y="281125"/>
                </a:lnTo>
                <a:lnTo>
                  <a:pt x="685226" y="265758"/>
                </a:lnTo>
                <a:lnTo>
                  <a:pt x="707850" y="250783"/>
                </a:lnTo>
                <a:lnTo>
                  <a:pt x="730731" y="236206"/>
                </a:lnTo>
                <a:lnTo>
                  <a:pt x="753864" y="222031"/>
                </a:lnTo>
                <a:lnTo>
                  <a:pt x="777240" y="208261"/>
                </a:lnTo>
                <a:lnTo>
                  <a:pt x="800853" y="194901"/>
                </a:lnTo>
                <a:lnTo>
                  <a:pt x="824696" y="181956"/>
                </a:lnTo>
                <a:lnTo>
                  <a:pt x="848761" y="169428"/>
                </a:lnTo>
                <a:lnTo>
                  <a:pt x="873041" y="157323"/>
                </a:lnTo>
                <a:lnTo>
                  <a:pt x="897528" y="145643"/>
                </a:lnTo>
                <a:lnTo>
                  <a:pt x="922216" y="134392"/>
                </a:lnTo>
                <a:lnTo>
                  <a:pt x="947096" y="123574"/>
                </a:lnTo>
                <a:lnTo>
                  <a:pt x="972162" y="113191"/>
                </a:lnTo>
                <a:lnTo>
                  <a:pt x="997404" y="103248"/>
                </a:lnTo>
                <a:lnTo>
                  <a:pt x="1022817" y="93747"/>
                </a:lnTo>
                <a:lnTo>
                  <a:pt x="1048391" y="84690"/>
                </a:lnTo>
                <a:lnTo>
                  <a:pt x="1074119" y="76082"/>
                </a:lnTo>
                <a:lnTo>
                  <a:pt x="1099994" y="67923"/>
                </a:lnTo>
                <a:lnTo>
                  <a:pt x="1126007" y="60218"/>
                </a:lnTo>
                <a:lnTo>
                  <a:pt x="1152151" y="52968"/>
                </a:lnTo>
                <a:lnTo>
                  <a:pt x="1178417" y="46175"/>
                </a:lnTo>
                <a:lnTo>
                  <a:pt x="1204798" y="39841"/>
                </a:lnTo>
                <a:lnTo>
                  <a:pt x="1231285" y="33969"/>
                </a:lnTo>
                <a:lnTo>
                  <a:pt x="1257871" y="28560"/>
                </a:lnTo>
                <a:lnTo>
                  <a:pt x="1284547" y="23616"/>
                </a:lnTo>
                <a:lnTo>
                  <a:pt x="1311306" y="19138"/>
                </a:lnTo>
                <a:lnTo>
                  <a:pt x="1338138" y="15128"/>
                </a:lnTo>
                <a:lnTo>
                  <a:pt x="1365037" y="11587"/>
                </a:lnTo>
                <a:lnTo>
                  <a:pt x="1391993" y="8516"/>
                </a:lnTo>
                <a:lnTo>
                  <a:pt x="1418998" y="5915"/>
                </a:lnTo>
                <a:lnTo>
                  <a:pt x="1446045" y="3787"/>
                </a:lnTo>
                <a:lnTo>
                  <a:pt x="1473125" y="2130"/>
                </a:lnTo>
                <a:lnTo>
                  <a:pt x="1500229" y="947"/>
                </a:lnTo>
                <a:lnTo>
                  <a:pt x="1527351" y="237"/>
                </a:lnTo>
                <a:lnTo>
                  <a:pt x="1554480" y="0"/>
                </a:lnTo>
                <a:lnTo>
                  <a:pt x="1581609" y="237"/>
                </a:lnTo>
                <a:lnTo>
                  <a:pt x="1608731" y="947"/>
                </a:lnTo>
                <a:lnTo>
                  <a:pt x="1635835" y="2130"/>
                </a:lnTo>
                <a:lnTo>
                  <a:pt x="1662915" y="3787"/>
                </a:lnTo>
                <a:lnTo>
                  <a:pt x="1689962" y="5915"/>
                </a:lnTo>
                <a:lnTo>
                  <a:pt x="1716967" y="8516"/>
                </a:lnTo>
                <a:lnTo>
                  <a:pt x="1743923" y="11587"/>
                </a:lnTo>
                <a:lnTo>
                  <a:pt x="1770822" y="15128"/>
                </a:lnTo>
                <a:lnTo>
                  <a:pt x="1797654" y="19138"/>
                </a:lnTo>
                <a:lnTo>
                  <a:pt x="1824413" y="23616"/>
                </a:lnTo>
                <a:lnTo>
                  <a:pt x="1851089" y="28560"/>
                </a:lnTo>
                <a:lnTo>
                  <a:pt x="1877675" y="33969"/>
                </a:lnTo>
                <a:lnTo>
                  <a:pt x="1904162" y="39841"/>
                </a:lnTo>
                <a:lnTo>
                  <a:pt x="1930543" y="46175"/>
                </a:lnTo>
                <a:lnTo>
                  <a:pt x="1950415" y="51314"/>
                </a:lnTo>
                <a:close/>
              </a:path>
            </a:pathLst>
          </a:custGeom>
          <a:solidFill>
            <a:srgbClr val="1A33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66928"/>
            <a:ext cx="1069305" cy="868680"/>
          </a:xfrm>
          <a:prstGeom prst="roundRect">
            <a:avLst>
              <a:gd name="adj" fmla="val 1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1228"/>
            <a:ext cx="794985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7985" y="56692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lang="vi-VN">
                <a:solidFill>
                  <a:srgbClr val="C7D2E8"/>
                </a:solidFill>
                <a:latin typeface="Calibri"/>
              </a:rPr>
              <a:t>ĐẠI HỌC QUỐC GIA THÀNH PHỐ HỒ CHÍ MINH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lang="vi-VN">
                <a:solidFill>
                  <a:srgbClr val="FFFFFF"/>
                </a:solidFill>
                <a:latin typeface="Calibri"/>
              </a:rPr>
              <a:t>TRƯỜNG ĐẠI HỌC CÔNG NGHỆ THÔNG TIN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lang="vi-VN">
                <a:solidFill>
                  <a:srgbClr val="C7D2E8"/>
                </a:solidFill>
                <a:latin typeface="Calibri"/>
              </a:rPr>
              <a:t>Khoa Khoa học và Kỹ thuật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 spc="150">
                <a:solidFill>
                  <a:srgbClr val="EF5A4F"/>
                </a:solidFill>
                <a:latin typeface="Calibri"/>
              </a:rPr>
              <a:t>ĐỒ ÁN MÔN HỌC  ·  IE103 – QUẢN LÝ THÔNG 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621792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400" b="1" lang="vi-VN">
                <a:solidFill>
                  <a:srgbClr val="FFFFFF"/>
                </a:solidFill>
                <a:latin typeface="Calibri"/>
              </a:rPr>
              <a:t>Hệ thống quản lý</a:t>
            </a:r>
          </a:p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400" b="1" lang="vi-VN">
                <a:solidFill>
                  <a:srgbClr val="FFFFFF"/>
                </a:solidFill>
                <a:latin typeface="Calibri"/>
              </a:rPr>
              <a:t>Trung tâm Tiếng Anh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4840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8FA3C7"/>
                </a:solidFill>
                <a:latin typeface="Calibri"/>
              </a:rPr>
              <a:t>GIẢNG VIÊN HƯỚNG DẪN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FFFFFF"/>
                </a:solidFill>
                <a:latin typeface="Calibri"/>
              </a:rPr>
              <a:t>TS. Võ Phương Bình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3892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8FA3C7"/>
                </a:solidFill>
                <a:latin typeface="Calibri"/>
              </a:rPr>
              <a:t>LỚP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675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FFFFFF"/>
                </a:solidFill>
                <a:latin typeface="Calibri"/>
              </a:rPr>
              <a:t>IE103.Q21.VB2 · Nhóm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434840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8FA3C7"/>
                </a:solidFill>
                <a:latin typeface="Calibri"/>
              </a:rPr>
              <a:t>THÀNH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663440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FFFFF"/>
                </a:solidFill>
                <a:latin typeface="Calibri"/>
              </a:rPr>
              <a:t>Trương Quang Như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663440"/>
            <a:ext cx="77724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25540022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910328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FFFFF"/>
                </a:solidFill>
                <a:latin typeface="Calibri"/>
              </a:rPr>
              <a:t>Đỗ Phạm Minh Trâm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910328"/>
            <a:ext cx="77724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25540042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157216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FFFFF"/>
                </a:solidFill>
                <a:latin typeface="Calibri"/>
              </a:rPr>
              <a:t>Đỗ Bình Dương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157216"/>
            <a:ext cx="77724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25540008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404104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FFFFF"/>
                </a:solidFill>
                <a:latin typeface="Calibri"/>
              </a:rPr>
              <a:t>Nguyễn Việt Phú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404104"/>
            <a:ext cx="77724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25540025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650992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FFFFF"/>
                </a:solidFill>
                <a:latin typeface="Calibri"/>
              </a:rPr>
              <a:t>Nguyễn Bảo Giang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650992"/>
            <a:ext cx="777240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25540009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960120"/>
            <a:ext cx="4462272" cy="4863631"/>
          </a:xfrm>
          <a:prstGeom prst="roundRect">
            <a:avLst>
              <a:gd name="adj" fmla="val 20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24344" y="1051560"/>
            <a:ext cx="91440" cy="9144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79792" y="1051560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0" y="1051560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63840" y="1019556"/>
            <a:ext cx="2377440" cy="155448"/>
          </a:xfrm>
          <a:prstGeom prst="roundRect">
            <a:avLst>
              <a:gd name="adj" fmla="val 5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lang="vi-VN">
                <a:solidFill>
                  <a:srgbClr val="5B6577"/>
                </a:solidFill>
                <a:latin typeface="Calibri"/>
              </a:rPr>
              <a:t>localhost:8501</a:t>
            </a:r>
          </a:p>
        </p:txBody>
      </p:sp>
      <p:pic>
        <p:nvPicPr>
          <p:cNvPr id="29" name="Picture 28" descr="16_dashboard.jpg"/>
          <p:cNvPicPr>
            <a:picLocks noChangeAspect="1"/>
          </p:cNvPicPr>
          <p:nvPr/>
        </p:nvPicPr>
        <p:blipFill>
          <a:blip r:embed="rId3"/>
          <a:srcRect b="52000"/>
          <a:stretch>
            <a:fillRect/>
          </a:stretch>
        </p:blipFill>
        <p:spPr>
          <a:xfrm>
            <a:off x="7232904" y="1234440"/>
            <a:ext cx="4352544" cy="4534447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Bố cục trình bày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5B6577"/>
                </a:solidFill>
                <a:latin typeface="Calibri"/>
              </a:rPr>
              <a:t>PHẦN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6002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5B6577"/>
                </a:solidFill>
                <a:latin typeface="Calibri"/>
              </a:rPr>
              <a:t>NGƯỜI TRÌNH BÀY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508760" y="20170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321" y="2113575"/>
            <a:ext cx="245791" cy="245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19202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Tổng quan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Bài toán, hiện trạng, yêu cầu và giá trị của thông tin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0574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9202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Trương Quang Như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441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441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508760" y="27409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321" y="2837475"/>
            <a:ext cx="245791" cy="245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94560" y="26441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Tổ chức thông tin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ERD, lược đồ quan hệ, chuẩn hoá và cài đặt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7813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26441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Đỗ Phạm Minh Trâm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680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3680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1508760" y="34648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5321" y="3561375"/>
            <a:ext cx="245791" cy="24579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33680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Xử lý thông tin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Truy vấn SQL và XML, an ninh, lập trình CSDL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5052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680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Đỗ Bình Dương, Trương Quang Như,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Nguyễn Bảo Giang, Nguyễn Việt Phú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0919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0919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04</a:t>
            </a:r>
          </a:p>
        </p:txBody>
      </p:sp>
      <p:sp>
        <p:nvSpPr>
          <p:cNvPr id="31" name="Oval 30"/>
          <p:cNvSpPr/>
          <p:nvPr/>
        </p:nvSpPr>
        <p:spPr>
          <a:xfrm>
            <a:off x="1508760" y="41887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yout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5321" y="4285275"/>
            <a:ext cx="245791" cy="24579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194560" y="40919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Trình bày thông tin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Menu theo vai trò, form, báo cáo và dashboard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42291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0919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Nguyễn Bảo Giang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8158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158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05</a:t>
            </a:r>
          </a:p>
        </p:txBody>
      </p:sp>
      <p:sp>
        <p:nvSpPr>
          <p:cNvPr id="38" name="Oval 37"/>
          <p:cNvSpPr/>
          <p:nvPr/>
        </p:nvSpPr>
        <p:spPr>
          <a:xfrm>
            <a:off x="1508760" y="49126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netwo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5321" y="5009175"/>
            <a:ext cx="245791" cy="24579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194560" y="48158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CSDL tiên tiến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Hướng đối tượng, phân tán và NoSQL trên cùng bài toán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49530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48158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Đỗ Phạm Minh Trâm, Nguyễn Việt Phú, Đỗ Bình Dương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539740"/>
            <a:ext cx="11094415" cy="632460"/>
          </a:xfrm>
          <a:prstGeom prst="roundRect">
            <a:avLst>
              <a:gd name="adj" fmla="val 1734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539740"/>
            <a:ext cx="6400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06</a:t>
            </a:r>
          </a:p>
        </p:txBody>
      </p:sp>
      <p:sp>
        <p:nvSpPr>
          <p:cNvPr id="45" name="Oval 44"/>
          <p:cNvSpPr/>
          <p:nvPr/>
        </p:nvSpPr>
        <p:spPr>
          <a:xfrm>
            <a:off x="1508760" y="5636514"/>
            <a:ext cx="438912" cy="438912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la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5321" y="5733075"/>
            <a:ext cx="245791" cy="24579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194560" y="5539740"/>
            <a:ext cx="4297680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4284B"/>
                </a:solidFill>
                <a:latin typeface="Calibri"/>
              </a:rPr>
              <a:t>Kiểm thử, demo, kết luận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Kiểm thử tích hợp, demo trực tiếp, hướng phát triển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5120" y="5676900"/>
            <a:ext cx="13716" cy="3581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0" y="5539740"/>
            <a:ext cx="4465015" cy="6324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Trương Quang Như, cả nhóm (demo)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TỔNG QUAN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Bài toán: Ba chi nhánh, dữ liệu rời rạc trên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03 /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lang="vi-VN" spc="120">
                <a:solidFill>
                  <a:srgbClr val="5B6577"/>
                </a:solidFill>
                <a:latin typeface="Calibri"/>
              </a:rPr>
              <a:t>QUY TRÌNH NGHIỆP VỤ BẢY BƯỚC</a:t>
            </a:r>
          </a:p>
        </p:txBody>
      </p:sp>
      <p:sp>
        <p:nvSpPr>
          <p:cNvPr id="14" name="Pentagon 13"/>
          <p:cNvSpPr/>
          <p:nvPr/>
        </p:nvSpPr>
        <p:spPr>
          <a:xfrm>
            <a:off x="548640" y="1947672"/>
            <a:ext cx="1663294" cy="731520"/>
          </a:xfrm>
          <a:prstGeom prst="homePlate">
            <a:avLst>
              <a:gd name="adj" fmla="val 3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Tư vấn</a:t>
            </a:r>
          </a:p>
        </p:txBody>
      </p:sp>
      <p:sp>
        <p:nvSpPr>
          <p:cNvPr id="15" name="Chevron 14"/>
          <p:cNvSpPr/>
          <p:nvPr/>
        </p:nvSpPr>
        <p:spPr>
          <a:xfrm>
            <a:off x="2120494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183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Kiểm tra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đầu vào</a:t>
            </a:r>
          </a:p>
        </p:txBody>
      </p:sp>
      <p:sp>
        <p:nvSpPr>
          <p:cNvPr id="16" name="Chevron 15"/>
          <p:cNvSpPr/>
          <p:nvPr/>
        </p:nvSpPr>
        <p:spPr>
          <a:xfrm>
            <a:off x="3692347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1D3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Ghi danh,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xếp lớp</a:t>
            </a:r>
          </a:p>
        </p:txBody>
      </p:sp>
      <p:sp>
        <p:nvSpPr>
          <p:cNvPr id="17" name="Chevron 16"/>
          <p:cNvSpPr/>
          <p:nvPr/>
        </p:nvSpPr>
        <p:spPr>
          <a:xfrm>
            <a:off x="5264201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224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Thu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học phí</a:t>
            </a:r>
          </a:p>
        </p:txBody>
      </p:sp>
      <p:sp>
        <p:nvSpPr>
          <p:cNvPr id="18" name="Chevron 17"/>
          <p:cNvSpPr/>
          <p:nvPr/>
        </p:nvSpPr>
        <p:spPr>
          <a:xfrm>
            <a:off x="6836054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264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Học và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điểm danh</a:t>
            </a:r>
          </a:p>
        </p:txBody>
      </p:sp>
      <p:sp>
        <p:nvSpPr>
          <p:cNvPr id="19" name="Chevron 18"/>
          <p:cNvSpPr/>
          <p:nvPr/>
        </p:nvSpPr>
        <p:spPr>
          <a:xfrm>
            <a:off x="8407908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2B5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Thi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cuối khoá</a:t>
            </a:r>
          </a:p>
        </p:txBody>
      </p:sp>
      <p:sp>
        <p:nvSpPr>
          <p:cNvPr id="20" name="Chevron 19"/>
          <p:cNvSpPr/>
          <p:nvPr/>
        </p:nvSpPr>
        <p:spPr>
          <a:xfrm>
            <a:off x="9979762" y="1947672"/>
            <a:ext cx="1663294" cy="731520"/>
          </a:xfrm>
          <a:prstGeom prst="chevron">
            <a:avLst>
              <a:gd name="adj" fmla="val 30000"/>
            </a:avLst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Báo cáo,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250" b="1" lang="vi-VN">
                <a:solidFill>
                  <a:srgbClr val="FFFFFF"/>
                </a:solidFill>
                <a:latin typeface="Calibri"/>
              </a:rPr>
              <a:t>thống kê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926080"/>
            <a:ext cx="5263744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3182112"/>
            <a:ext cx="502920" cy="50292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le-spread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" y="3292754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3136392"/>
            <a:ext cx="4029304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Hiện trạng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Mỗi chi nhánh một tệp Excel riêng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4023360"/>
            <a:ext cx="274320" cy="27432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ircle-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" y="4083710"/>
            <a:ext cx="153619" cy="1536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261872" y="4023360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Hồ sơ học viên trùng lặp, sai lệch giữa các chi nhánh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" y="4517136"/>
            <a:ext cx="274320" cy="27432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ircle-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" y="4577486"/>
            <a:ext cx="153619" cy="15361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4517136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Không kiểm soát sĩ số, trùng phòng, khoá tiên quyết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010912"/>
            <a:ext cx="274320" cy="27432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ircle-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" y="5071262"/>
            <a:ext cx="153619" cy="1536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61872" y="5010912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Báo cáo doanh thu chép tay, mất 1–2 ngày mỗi tháng</a:t>
            </a:r>
          </a:p>
        </p:txBody>
      </p:sp>
      <p:sp>
        <p:nvSpPr>
          <p:cNvPr id="34" name="Oval 33"/>
          <p:cNvSpPr/>
          <p:nvPr/>
        </p:nvSpPr>
        <p:spPr>
          <a:xfrm>
            <a:off x="822960" y="5504688"/>
            <a:ext cx="274320" cy="27432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ircle-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" y="5565038"/>
            <a:ext cx="153619" cy="15361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61872" y="5504688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Không phân quyền, không nhật ký, không sao lưu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79312" y="2926080"/>
            <a:ext cx="5263744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53632" y="3182112"/>
            <a:ext cx="502920" cy="50292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4274" y="3292754"/>
            <a:ext cx="281635" cy="28163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39432" y="3136392"/>
            <a:ext cx="4029304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Mục tiêu của ECMS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CSDL tập trung + ứng dụng web theo vai trò</a:t>
            </a:r>
          </a:p>
        </p:txBody>
      </p:sp>
      <p:sp>
        <p:nvSpPr>
          <p:cNvPr id="41" name="Oval 40"/>
          <p:cNvSpPr/>
          <p:nvPr/>
        </p:nvSpPr>
        <p:spPr>
          <a:xfrm>
            <a:off x="6653632" y="4023360"/>
            <a:ext cx="274320" cy="27432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3982" y="4083710"/>
            <a:ext cx="153619" cy="15361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92544" y="4023360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Một nguồn dữ liệu cho 3 chi nhánh, 4 chương trình</a:t>
            </a:r>
          </a:p>
        </p:txBody>
      </p:sp>
      <p:sp>
        <p:nvSpPr>
          <p:cNvPr id="44" name="Oval 43"/>
          <p:cNvSpPr/>
          <p:nvPr/>
        </p:nvSpPr>
        <p:spPr>
          <a:xfrm>
            <a:off x="6653632" y="4517136"/>
            <a:ext cx="274320" cy="27432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3982" y="4577486"/>
            <a:ext cx="153619" cy="1536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092544" y="4517136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Luật nghiệp vụ đặt tại CSDL: Ràng buộc, procedure, trigger</a:t>
            </a:r>
          </a:p>
        </p:txBody>
      </p:sp>
      <p:sp>
        <p:nvSpPr>
          <p:cNvPr id="47" name="Oval 46"/>
          <p:cNvSpPr/>
          <p:nvPr/>
        </p:nvSpPr>
        <p:spPr>
          <a:xfrm>
            <a:off x="6653632" y="5010912"/>
            <a:ext cx="274320" cy="27432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3982" y="5071262"/>
            <a:ext cx="153619" cy="15361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92544" y="5010912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Báo cáo, dashboard tức thời thay cho tổng hợp tay</a:t>
            </a:r>
          </a:p>
        </p:txBody>
      </p:sp>
      <p:sp>
        <p:nvSpPr>
          <p:cNvPr id="50" name="Oval 49"/>
          <p:cNvSpPr/>
          <p:nvPr/>
        </p:nvSpPr>
        <p:spPr>
          <a:xfrm>
            <a:off x="6653632" y="5504688"/>
            <a:ext cx="274320" cy="27432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3982" y="5565038"/>
            <a:ext cx="153619" cy="153619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092544" y="5504688"/>
            <a:ext cx="4276192" cy="25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1E293B"/>
                </a:solidFill>
                <a:latin typeface="Calibri"/>
              </a:rPr>
              <a:t>Phân quyền 6 tác nhân, nhật ký thay đổi, sao lưu định kỳ</a:t>
            </a:r>
          </a:p>
        </p:txBody>
      </p:sp>
      <p:sp>
        <p:nvSpPr>
          <p:cNvPr id="53" name="Oval 52"/>
          <p:cNvSpPr/>
          <p:nvPr/>
        </p:nvSpPr>
        <p:spPr>
          <a:xfrm>
            <a:off x="5867248" y="432054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rrow-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7832" y="4421124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TỔNG QUAN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Yêu cầu: Sáu tác nhân và giá trị của thông 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04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25678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lang="vi-VN">
                <a:solidFill>
                  <a:srgbClr val="EF5A4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292" y="1600200"/>
            <a:ext cx="1786052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tác nhân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mỗi tác nhân một role CSDL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0824" y="1600200"/>
            <a:ext cx="25678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4" y="1600200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lang="vi-VN">
                <a:solidFill>
                  <a:srgbClr val="14284B"/>
                </a:solidFill>
                <a:latin typeface="Calibri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8648" y="1600200"/>
            <a:ext cx="15528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yêu cầu chức năng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FR01 – FR22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8" y="1600200"/>
            <a:ext cx="25678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8" y="1600200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lang="vi-VN">
                <a:solidFill>
                  <a:srgbClr val="14284B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7660" y="1600200"/>
            <a:ext cx="1786052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phi chức năng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toàn vẹn, bảo mật, truy vết…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5191" y="1600200"/>
            <a:ext cx="25678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3791" y="1600200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lang="vi-VN">
                <a:solidFill>
                  <a:srgbClr val="14284B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9843" y="1600200"/>
            <a:ext cx="1786052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báo cáo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xuất PDF, Excel, Word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74320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9808" y="302514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ief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12572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71600" y="285292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Quản lý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Danh mục, báo cáo, dashboard, nhật ký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7620" y="274320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18788" y="302514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lipboard-p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372" y="3125724"/>
            <a:ext cx="2560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40580" y="285292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Giáo vụ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Tư vấn, mở lớp, xếp lịch, ghi danh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94716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49808" y="4229100"/>
            <a:ext cx="457200" cy="45720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alcula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329684"/>
            <a:ext cx="256032" cy="25603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71600" y="405688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Kế toán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Thu học phí, công nợ, bảng lương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7620" y="394716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18788" y="422910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resent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9372" y="4329684"/>
            <a:ext cx="256032" cy="256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640580" y="405688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Giáo viên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Điểm danh, nhập điểm, cảnh báo chuyên cần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15112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9808" y="5433060"/>
            <a:ext cx="457200" cy="457200"/>
          </a:xfrm>
          <a:prstGeom prst="ellipse">
            <a:avLst/>
          </a:prstGeom>
          <a:solidFill>
            <a:srgbClr val="6D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graduation-c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" y="5533644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71600" y="526084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Học viên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Tra cứu lịch học, điểm, học phí của mình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17620" y="5151120"/>
            <a:ext cx="3040380" cy="1021080"/>
          </a:xfrm>
          <a:prstGeom prst="roundRect">
            <a:avLst>
              <a:gd name="adj" fmla="val 107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018788" y="5433060"/>
            <a:ext cx="457200" cy="45720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erv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9372" y="5533644"/>
            <a:ext cx="256032" cy="2560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4640580" y="5260848"/>
            <a:ext cx="2080260" cy="801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Quản trị hệ thống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Tài khoản, phân quyền, sao lưu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0" y="2743200"/>
            <a:ext cx="4510735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06640" y="2926080"/>
            <a:ext cx="39620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Từ dữ liệu đến hành động (DIKW)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60920" y="5385816"/>
            <a:ext cx="3017520" cy="603504"/>
          </a:xfrm>
          <a:prstGeom prst="roundRect">
            <a:avLst>
              <a:gd name="adj" fmla="val 12121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DCE3F0"/>
                </a:solidFill>
                <a:latin typeface="Calibri"/>
              </a:rPr>
              <a:t>DỮ LIỆU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lang="vi-VN">
                <a:solidFill>
                  <a:srgbClr val="FFFFFF"/>
                </a:solidFill>
                <a:latin typeface="Calibri"/>
              </a:rPr>
              <a:t>10.063 lượt điểm danh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06258" y="4733544"/>
            <a:ext cx="3017520" cy="603504"/>
          </a:xfrm>
          <a:prstGeom prst="roundRect">
            <a:avLst>
              <a:gd name="adj" fmla="val 12121"/>
            </a:avLst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DCE3F0"/>
                </a:solidFill>
                <a:latin typeface="Calibri"/>
              </a:rPr>
              <a:t>THÔNG TIN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lang="vi-VN">
                <a:solidFill>
                  <a:srgbClr val="FFFFFF"/>
                </a:solidFill>
                <a:latin typeface="Calibri"/>
              </a:rPr>
              <a:t>HV0021: Chuyên cần 56,25%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51597" y="4081272"/>
            <a:ext cx="3017520" cy="603504"/>
          </a:xfrm>
          <a:prstGeom prst="roundRect">
            <a:avLst>
              <a:gd name="adj" fmla="val 12121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DCE3F0"/>
                </a:solidFill>
                <a:latin typeface="Calibri"/>
              </a:rPr>
              <a:t>TRI THỨC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lang="vi-VN">
                <a:solidFill>
                  <a:srgbClr val="FFFFFF"/>
                </a:solidFill>
                <a:latin typeface="Calibri"/>
              </a:rPr>
              <a:t>Chuyên cần &lt; 80%: Trượt gấp 3 lần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96935" y="3429000"/>
            <a:ext cx="3017520" cy="603504"/>
          </a:xfrm>
          <a:prstGeom prst="roundRect">
            <a:avLst>
              <a:gd name="adj" fmla="val 12121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20">
                <a:solidFill>
                  <a:srgbClr val="DCE3F0"/>
                </a:solidFill>
                <a:latin typeface="Calibri"/>
              </a:rPr>
              <a:t>TRÍ TUỆ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lang="vi-VN">
                <a:solidFill>
                  <a:srgbClr val="FFFFFF"/>
                </a:solidFill>
                <a:latin typeface="Calibri"/>
              </a:rPr>
              <a:t>Gọi điện, xếp học bù sớm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TỔ CHỨC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Mô hình khái niệm: ERD 14 thực thể, 22 mối kết hợp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Đỗ Phạm Minh Trâm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05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777240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r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762225"/>
            <a:ext cx="7498080" cy="4247951"/>
          </a:xfrm>
          <a:prstGeom prst="rect">
            <a:avLst/>
          </a:prstGeom>
          <a:effectLst/>
        </p:spPr>
      </p:pic>
      <p:sp>
        <p:nvSpPr>
          <p:cNvPr id="15" name="Oval 14"/>
          <p:cNvSpPr/>
          <p:nvPr/>
        </p:nvSpPr>
        <p:spPr>
          <a:xfrm>
            <a:off x="8641080" y="164592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4" y="1746504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62872" y="1609344"/>
            <a:ext cx="2380183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Thực thể yếu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PHONGHOC, BUOIHOC mượn khoá của CHINHANH, LOPHOC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2560320"/>
            <a:ext cx="457200" cy="45720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bran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4" y="266090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62872" y="2523744"/>
            <a:ext cx="2380183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Chuyên biệt hoá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NHANVIEN → GIAOVIEN, rời nhau, không toàn phần</a:t>
            </a:r>
          </a:p>
        </p:txBody>
      </p:sp>
      <p:sp>
        <p:nvSpPr>
          <p:cNvPr id="21" name="Oval 20"/>
          <p:cNvSpPr/>
          <p:nvPr/>
        </p:nvSpPr>
        <p:spPr>
          <a:xfrm>
            <a:off x="8641080" y="347472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etwo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357530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62872" y="3438144"/>
            <a:ext cx="2380183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Liên kết ba ngôi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LỊCH HỌC nối lớp – ca học – phòng học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4389120"/>
            <a:ext cx="457200" cy="457200"/>
          </a:xfrm>
          <a:prstGeom prst="ellipse">
            <a:avLst/>
          </a:prstGeom>
          <a:solidFill>
            <a:srgbClr val="6D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tre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4" y="4489704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62872" y="4352544"/>
            <a:ext cx="2380183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Đủ loại thuộc tính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Khoá, phức hợp, đa trị (chứng chỉ), suy diễn</a:t>
            </a:r>
          </a:p>
        </p:txBody>
      </p:sp>
      <p:sp>
        <p:nvSpPr>
          <p:cNvPr id="27" name="Oval 26"/>
          <p:cNvSpPr/>
          <p:nvPr/>
        </p:nvSpPr>
        <p:spPr>
          <a:xfrm>
            <a:off x="8641080" y="530352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x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41664" y="5404104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62872" y="5266944"/>
            <a:ext cx="2380183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Sơ đồ lớp UML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Kế thừa, thành phần, kết tập; đối chiếu với ERD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TỔ CHỨC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Mô hình logic và cài đặt: 22 bảng trên SQL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Đỗ Phạm Minh Trâm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06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635508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-diagram-1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991880"/>
            <a:ext cx="6080760" cy="3377161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85800" y="5715000"/>
            <a:ext cx="60807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Sơ đồ CSDL nhóm đào tạo – nhân sự (13 / 22 bảng)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60020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69164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14884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bảng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7338" y="160020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7338" y="169164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7338" y="214884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khoá ngoại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76637" y="160020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76637" y="169164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6637" y="214884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ràng buộc 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78040" y="269748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78892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24612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chỉ mục bổ sung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27338" y="269748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7338" y="278892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7338" y="324612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RBTV đặc tả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76637" y="2697480"/>
            <a:ext cx="136641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76637" y="2788920"/>
            <a:ext cx="136641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6637" y="3246120"/>
            <a:ext cx="1366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cột tính toán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3794760"/>
            <a:ext cx="4465015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959352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Dạng chuẩn trên khoá dự tuyển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297680"/>
            <a:ext cx="2914775" cy="384048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FFFFFF"/>
                </a:solidFill>
                <a:latin typeface="Calibri"/>
              </a:rPr>
              <a:t>16 · BCNF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21415" y="4297680"/>
            <a:ext cx="728694" cy="384048"/>
          </a:xfrm>
          <a:prstGeom prst="rect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FFFFFF"/>
                </a:solidFill>
                <a:latin typeface="Calibri"/>
              </a:rPr>
              <a:t>4 · 2NF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050108" y="4297680"/>
            <a:ext cx="364347" cy="384048"/>
          </a:xfrm>
          <a:prstGeom prst="rect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754880"/>
            <a:ext cx="40078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2NF: Lưu giá trị suy diễn để tra nhanh · </a:t>
            </a:r>
            <a:r>
              <a:rPr sz="1200" b="1" lang="vi-VN">
                <a:solidFill>
                  <a:srgbClr val="C2362C"/>
                </a:solidFill>
                <a:latin typeface="Calibri"/>
              </a:rPr>
              <a:t>2 bảng vi phạm 2NF có chủ đích</a:t>
            </a:r>
            <a:r>
              <a:rPr sz="1200" b="0" lang="vi-VN">
                <a:solidFill>
                  <a:srgbClr val="5B6577"/>
                </a:solidFill>
                <a:latin typeface="Calibri"/>
              </a:rPr>
              <a:t> để khai báo khoá ngoại phức hợp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78040" y="5486400"/>
            <a:ext cx="4465015" cy="685800"/>
          </a:xfrm>
          <a:prstGeom prst="roundRect">
            <a:avLst>
              <a:gd name="adj" fmla="val 16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60920" y="5637276"/>
            <a:ext cx="384048" cy="38404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411" y="5721767"/>
            <a:ext cx="215067" cy="21506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891272" y="5486400"/>
            <a:ext cx="3596335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2448A8"/>
                </a:solidFill>
                <a:latin typeface="Calibri"/>
              </a:rPr>
              <a:t>Dữ liệu mẫu theo nghiệp vụ:</a:t>
            </a:r>
            <a:r>
              <a:rPr sz="1300" b="0" lang="vi-VN">
                <a:solidFill>
                  <a:srgbClr val="1E293B"/>
                </a:solidFill>
                <a:latin typeface="Calibri"/>
              </a:rPr>
              <a:t> 349 học viên · 25 lớp · 539 đăng ký · 10.063 lượt điểm danh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XỬ LÝ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Truy vấn: 31 câu SQL, 18 câu XML, đo bằng số trang đọc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Đỗ Bình Dương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07 /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lang="vi-VN" spc="120">
                <a:solidFill>
                  <a:srgbClr val="5B6577"/>
                </a:solidFill>
                <a:latin typeface="Calibri"/>
              </a:rPr>
              <a:t>31 TRUY VẤN SQL THEO 6 NHÓM KỸ THUẬT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2386584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103120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Cơ bản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LIKE, BETWEEN, TOP … WITH 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0460" y="2011680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81628" y="2386584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9140" y="2103120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Kết nối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INNER, LEFT, RIGHT, FULL JOIN, tự kết nối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65576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9808" y="3840480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557016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Gom nhóm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GROUP BY, HAVING, ROLLUP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0460" y="3465576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81628" y="3840480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9140" y="3557016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Truy vấn lồng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IN, NOT EXISTS, tương quan, 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19472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5294376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010912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Tập hợp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UNION, INTERSECT, EXCEPT, phép chia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80460" y="4919472"/>
            <a:ext cx="290322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81628" y="5294376"/>
            <a:ext cx="502920" cy="50292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9140" y="5010912"/>
            <a:ext cx="1897380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Nâng cao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CTE đệ quy, hàm cửa sổ, PIVOT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1600200"/>
            <a:ext cx="4785055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32320" y="182880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4" y="1929384"/>
            <a:ext cx="256032" cy="2560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0" y="1783080"/>
            <a:ext cx="359633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Chỉ mục trên 1.000.000 dòng điểm danh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2423160"/>
            <a:ext cx="423641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Chuyên cần của một đăng ký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2651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lang="vi-VN">
                <a:solidFill>
                  <a:srgbClr val="5B6B82"/>
                </a:solidFill>
                <a:latin typeface="Calibri"/>
              </a:rPr>
              <a:t>6.023  →  </a:t>
            </a:r>
            <a:r>
              <a:rPr sz="2600" b="1" lang="vi-VN">
                <a:solidFill>
                  <a:srgbClr val="EF5A4F"/>
                </a:solidFill>
                <a:latin typeface="Calibri"/>
              </a:rPr>
              <a:t>3 trang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54335" y="27249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5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−99,9%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3108960"/>
            <a:ext cx="423641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Thống kê một lớp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lang="vi-VN">
                <a:solidFill>
                  <a:srgbClr val="5B6B82"/>
                </a:solidFill>
                <a:latin typeface="Calibri"/>
              </a:rPr>
              <a:t>6.023  →  </a:t>
            </a:r>
            <a:r>
              <a:rPr sz="2600" b="1" lang="vi-VN">
                <a:solidFill>
                  <a:srgbClr val="EF5A4F"/>
                </a:solidFill>
                <a:latin typeface="Calibri"/>
              </a:rPr>
              <a:t>150 trang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54335" y="34107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5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−97,5%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0" y="4160520"/>
            <a:ext cx="4785055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2320" y="4361688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code-x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4462272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772400" y="4315968"/>
            <a:ext cx="359633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XML có XML Schema: 18 truy vấn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0" y="4892040"/>
            <a:ext cx="736092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query()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41564" y="4892040"/>
            <a:ext cx="711708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value()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26424" y="4892040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exist()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67088" y="4892040"/>
            <a:ext cx="752856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nodes()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93096" y="4892040"/>
            <a:ext cx="815340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modify()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5239512"/>
            <a:ext cx="848844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FOR XML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54316" y="52395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OPENXML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5586984"/>
            <a:ext cx="42364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Chỉ mục XML có lợi ở 357 bài (1.969 → 707 trang) nhưng </a:t>
            </a:r>
            <a:r>
              <a:rPr sz="1300" b="1" lang="vi-VN">
                <a:solidFill>
                  <a:srgbClr val="C2362C"/>
                </a:solidFill>
                <a:latin typeface="Calibri"/>
              </a:rPr>
              <a:t>bất lợi ở 10.710 bài</a:t>
            </a:r>
            <a:r>
              <a:rPr sz="1300" b="0" lang="vi-VN">
                <a:solidFill>
                  <a:srgbClr val="1E293B"/>
                </a:solidFill>
                <a:latin typeface="Calibri"/>
              </a:rPr>
              <a:t> (1.956 → 40.490 trang)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XỬ LÝ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An ninh dữ liệu: Bảo vệ theo 7 lớp, phục hồi dưới 1 giây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Như, Nguyễn Bảo Giang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08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1691640"/>
            <a:ext cx="384048" cy="38404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59" y="1776131"/>
            <a:ext cx="215067" cy="2150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1600200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Mã hoá đường truyền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600200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TLS giữa ứng dụng và SQL Server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267712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2359152"/>
            <a:ext cx="384048" cy="384048"/>
          </a:xfrm>
          <a:prstGeom prst="ellipse">
            <a:avLst/>
          </a:prstGeom>
          <a:solidFill>
            <a:srgbClr val="2B5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859" y="2443643"/>
            <a:ext cx="215067" cy="21506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2267712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Xác thực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267712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Băm lặp 10.000 vòng SHA2_256 có salt; sai 5 lần tạm khoá 15 phút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935224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3026664"/>
            <a:ext cx="384048" cy="384048"/>
          </a:xfrm>
          <a:prstGeom prst="ellipse">
            <a:avLst/>
          </a:prstGeom>
          <a:solidFill>
            <a:srgbClr val="264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ey-rou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59" y="3111155"/>
            <a:ext cx="215067" cy="2150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2935224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3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Quyền tối thiểu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935224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6 role; login ứng dụng bị DENY mọi bảng, chỉ gọi procedure, đọc 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02736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" y="3694176"/>
            <a:ext cx="384048" cy="384048"/>
          </a:xfrm>
          <a:prstGeom prst="ellipse">
            <a:avLst/>
          </a:prstGeom>
          <a:solidFill>
            <a:srgbClr val="224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9" y="3778667"/>
            <a:ext cx="215067" cy="21506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360273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Phân quyền theo dòng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3602736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SESSION_CONTEXT chỉ đọc; thiếu ngữ cảnh thì từ chối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70248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4361688"/>
            <a:ext cx="384048" cy="384048"/>
          </a:xfrm>
          <a:prstGeom prst="ellipse">
            <a:avLst/>
          </a:prstGeom>
          <a:solidFill>
            <a:srgbClr val="1D3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eye-o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859" y="4446179"/>
            <a:ext cx="215067" cy="21506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4270248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5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Che, ẩn theo cột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4270248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View bảo mật ẩn lương; Dynamic Data Masking số điện thoại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937760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8368" y="5029200"/>
            <a:ext cx="384048" cy="384048"/>
          </a:xfrm>
          <a:prstGeom prst="ellipse">
            <a:avLst/>
          </a:prstGeom>
          <a:solidFill>
            <a:srgbClr val="183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hard-dri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859" y="5113691"/>
            <a:ext cx="215067" cy="21506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937760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6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Mã hoá lưu trữ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4937760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TDE, mã hoá cột, bản sao lưu mã hoá AES-256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605272"/>
            <a:ext cx="6629400" cy="566928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8368" y="5696712"/>
            <a:ext cx="384048" cy="38404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roll-tex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859" y="5781203"/>
            <a:ext cx="215067" cy="21506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88720" y="5605272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lang="vi-VN" spc="100">
                <a:solidFill>
                  <a:srgbClr val="5B6577"/>
                </a:solidFill>
                <a:latin typeface="Calibri"/>
              </a:rPr>
              <a:t>LỚP 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Kiểm toán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4680" y="5605272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Trigger nhật ký JSON, SQL Server Audit, bảng ledger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52360" y="1600200"/>
            <a:ext cx="4190695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726680" y="1828800"/>
            <a:ext cx="457200" cy="45720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histor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7264" y="1929384"/>
            <a:ext cx="256032" cy="25603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366760" y="1783080"/>
            <a:ext cx="300197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Sao lưu và phục hồi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2468880"/>
            <a:ext cx="1729588" cy="1005840"/>
          </a:xfrm>
          <a:prstGeom prst="roundRect">
            <a:avLst>
              <a:gd name="adj" fmla="val 909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2532888"/>
            <a:ext cx="1729588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lang="vi-VN">
                <a:solidFill>
                  <a:srgbClr val="14284B"/>
                </a:solidFill>
                <a:latin typeface="Calibri"/>
              </a:rPr>
              <a:t>15 phút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80" y="3035808"/>
            <a:ext cx="172958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RPO – mất tối đa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639148" y="2468880"/>
            <a:ext cx="1729588" cy="1005840"/>
          </a:xfrm>
          <a:prstGeom prst="roundRect">
            <a:avLst>
              <a:gd name="adj" fmla="val 909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39148" y="2532888"/>
            <a:ext cx="1729588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lang="vi-VN">
                <a:solidFill>
                  <a:srgbClr val="14284B"/>
                </a:solidFill>
                <a:latin typeface="Calibri"/>
              </a:rPr>
              <a:t>&lt; 1 giây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39148" y="3035808"/>
            <a:ext cx="172958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RTO đo được 607–810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26680" y="3657600"/>
            <a:ext cx="364205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Full hằng tuần · vi sai hằng ngày · nhật ký 15 phút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Phục hồi đúng thời điểm (STOPAT), DBCC CHECKDB không lỗi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52360" y="4800600"/>
            <a:ext cx="4190695" cy="1371600"/>
          </a:xfrm>
          <a:prstGeom prst="roundRect">
            <a:avLst>
              <a:gd name="adj" fmla="val 8000"/>
            </a:avLst>
          </a:prstGeom>
          <a:solidFill>
            <a:srgbClr val="E5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726680" y="5212080"/>
            <a:ext cx="548640" cy="5486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7381" y="5332781"/>
            <a:ext cx="307238" cy="30723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458200" y="4800600"/>
            <a:ext cx="91440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lang="vi-VN">
                <a:solidFill>
                  <a:srgbClr val="157F55"/>
                </a:solidFill>
                <a:latin typeface="Calibri"/>
              </a:rPr>
              <a:t>53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800600"/>
            <a:ext cx="2224735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ca kiểm thử phân quyền đều đạt – vai trò bị chặn, phạm vi chi nhánh, thiếu ngữ cảnh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XỬ LÝ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Lập trình CSDL: Luật nghiệp vụ nằm trọn trong CSDL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Nguyễn Việt Phú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09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2567864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737360"/>
            <a:ext cx="12801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lang="vi-VN">
                <a:solidFill>
                  <a:srgbClr val="14284B"/>
                </a:solidFill>
                <a:latin typeface="Calibri"/>
              </a:rPr>
              <a:t>40</a:t>
            </a:r>
          </a:p>
        </p:txBody>
      </p:sp>
      <p:sp>
        <p:nvSpPr>
          <p:cNvPr id="15" name="Oval 14"/>
          <p:cNvSpPr/>
          <p:nvPr/>
        </p:nvSpPr>
        <p:spPr>
          <a:xfrm>
            <a:off x="2430704" y="1801368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288" y="190195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350008"/>
            <a:ext cx="21106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Stored procedure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633472"/>
            <a:ext cx="211066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lang="vi-VN">
                <a:solidFill>
                  <a:srgbClr val="5B6577"/>
                </a:solidFill>
                <a:latin typeface="Calibri"/>
              </a:rPr>
              <a:t>sp_DangKyHoc, sp_ThuHocPhi nhận chi tiết dạng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00984"/>
            <a:ext cx="2110664" cy="292608"/>
          </a:xfrm>
          <a:prstGeom prst="roundRect">
            <a:avLst>
              <a:gd name="adj" fmla="val 50000"/>
            </a:avLst>
          </a:prstGeom>
          <a:solidFill>
            <a:srgbClr val="E5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57F55"/>
                </a:solidFill>
                <a:latin typeface="Calibri"/>
              </a:rPr>
              <a:t>39 ca kiểm thử đạt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0824" y="1600200"/>
            <a:ext cx="2567864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9424" y="1737360"/>
            <a:ext cx="12801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lang="vi-VN">
                <a:solidFill>
                  <a:srgbClr val="2F5BD3"/>
                </a:solidFill>
                <a:latin typeface="Calibri"/>
              </a:rPr>
              <a:t>17</a:t>
            </a:r>
          </a:p>
        </p:txBody>
      </p:sp>
      <p:sp>
        <p:nvSpPr>
          <p:cNvPr id="22" name="Oval 21"/>
          <p:cNvSpPr/>
          <p:nvPr/>
        </p:nvSpPr>
        <p:spPr>
          <a:xfrm>
            <a:off x="5272888" y="1801368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72" y="1901952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19424" y="2350008"/>
            <a:ext cx="21106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9424" y="2633472"/>
            <a:ext cx="211066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lang="vi-VN">
                <a:solidFill>
                  <a:srgbClr val="5B6577"/>
                </a:solidFill>
                <a:latin typeface="Calibri"/>
              </a:rPr>
              <a:t>fn_GoiYKhoaHoc, fn_BangDiemLop, fn_NguoiDungHienTai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424" y="3300984"/>
            <a:ext cx="2110664" cy="292608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Dùng trong view, CHECK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8" y="1600200"/>
            <a:ext cx="2567864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1608" y="1737360"/>
            <a:ext cx="12801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lang="vi-VN">
                <a:solidFill>
                  <a:srgbClr val="EF5A4F"/>
                </a:solidFill>
                <a:latin typeface="Calibri"/>
              </a:rPr>
              <a:t>14</a:t>
            </a:r>
          </a:p>
        </p:txBody>
      </p:sp>
      <p:sp>
        <p:nvSpPr>
          <p:cNvPr id="29" name="Oval 28"/>
          <p:cNvSpPr/>
          <p:nvPr/>
        </p:nvSpPr>
        <p:spPr>
          <a:xfrm>
            <a:off x="8115071" y="1801368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655" y="1901952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61608" y="2350008"/>
            <a:ext cx="21106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Trigger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8" y="2633472"/>
            <a:ext cx="211066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lang="vi-VN">
                <a:solidFill>
                  <a:srgbClr val="5B6577"/>
                </a:solidFill>
                <a:latin typeface="Calibri"/>
              </a:rPr>
              <a:t>Sĩ số, tổng tiền phiếu thu, chặn trùng phòng, nhật ký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61608" y="3300984"/>
            <a:ext cx="2110664" cy="292608"/>
          </a:xfrm>
          <a:prstGeom prst="roundRect">
            <a:avLst>
              <a:gd name="adj" fmla="val 50000"/>
            </a:avLst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C2362C"/>
                </a:solidFill>
                <a:latin typeface="Calibri"/>
              </a:rPr>
              <a:t>22 ca kiểm thử đạt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75191" y="1600200"/>
            <a:ext cx="2567864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3791" y="1737360"/>
            <a:ext cx="12801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lang="vi-VN">
                <a:solidFill>
                  <a:srgbClr val="6D4FC2"/>
                </a:solidFill>
                <a:latin typeface="Calibri"/>
              </a:rPr>
              <a:t>3</a:t>
            </a:r>
          </a:p>
        </p:txBody>
      </p:sp>
      <p:sp>
        <p:nvSpPr>
          <p:cNvPr id="36" name="Oval 35"/>
          <p:cNvSpPr/>
          <p:nvPr/>
        </p:nvSpPr>
        <p:spPr>
          <a:xfrm>
            <a:off x="10957255" y="1801368"/>
            <a:ext cx="457200" cy="457200"/>
          </a:xfrm>
          <a:prstGeom prst="ellipse">
            <a:avLst/>
          </a:prstGeom>
          <a:solidFill>
            <a:srgbClr val="6D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rotate-c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7839" y="1901952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303791" y="2350008"/>
            <a:ext cx="21106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Cursor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3791" y="2633472"/>
            <a:ext cx="211066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lang="vi-VN">
                <a:solidFill>
                  <a:srgbClr val="5B6577"/>
                </a:solidFill>
                <a:latin typeface="Calibri"/>
              </a:rPr>
              <a:t>Sinh buổi học bỏ ngày lễ, tính lương, cảnh báo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791" y="3300984"/>
            <a:ext cx="2110664" cy="292608"/>
          </a:xfrm>
          <a:prstGeom prst="roundRect">
            <a:avLst>
              <a:gd name="adj" fmla="val 50000"/>
            </a:avLst>
          </a:prstGeom>
          <a:solidFill>
            <a:srgbClr val="EF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5136A3"/>
                </a:solidFill>
                <a:latin typeface="Calibri"/>
              </a:rPr>
              <a:t>Tập hợp nhanh hơn 1,1–6,9×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977640"/>
            <a:ext cx="11094415" cy="2194560"/>
          </a:xfrm>
          <a:prstGeom prst="roundRect">
            <a:avLst>
              <a:gd name="adj" fmla="val 499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1605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Một lượt ghi danh đi qua CSDL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572000"/>
            <a:ext cx="1699504" cy="1005840"/>
          </a:xfrm>
          <a:prstGeom prst="roundRect">
            <a:avLst>
              <a:gd name="adj" fmla="val 9090"/>
            </a:avLst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4572000"/>
            <a:ext cx="1425184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lang="vi-VN">
                <a:solidFill>
                  <a:srgbClr val="3F4C61"/>
                </a:solidFill>
                <a:latin typeface="Calibri"/>
              </a:rPr>
              <a:t>Giao diện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Bấm “Ghi danh”, gọi procedure</a:t>
            </a:r>
          </a:p>
        </p:txBody>
      </p:sp>
      <p:sp>
        <p:nvSpPr>
          <p:cNvPr id="45" name="Oval 44"/>
          <p:cNvSpPr/>
          <p:nvPr/>
        </p:nvSpPr>
        <p:spPr>
          <a:xfrm>
            <a:off x="2641336" y="4937760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rrow-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1686" y="4998110"/>
            <a:ext cx="153619" cy="15361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034528" y="4572000"/>
            <a:ext cx="1699504" cy="1005840"/>
          </a:xfrm>
          <a:prstGeom prst="roundRect">
            <a:avLst>
              <a:gd name="adj" fmla="val 909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71688" y="4572000"/>
            <a:ext cx="1425184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lang="vi-VN">
                <a:solidFill>
                  <a:srgbClr val="14284B"/>
                </a:solidFill>
                <a:latin typeface="Calibri"/>
              </a:rPr>
              <a:t>sp_DangKyHoc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Khoá dòng lớp (UPDLOCK); kiểm tra sĩ số, tiên quyết</a:t>
            </a:r>
          </a:p>
        </p:txBody>
      </p:sp>
      <p:sp>
        <p:nvSpPr>
          <p:cNvPr id="49" name="Oval 48"/>
          <p:cNvSpPr/>
          <p:nvPr/>
        </p:nvSpPr>
        <p:spPr>
          <a:xfrm>
            <a:off x="4852904" y="4937760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arrow-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98110"/>
            <a:ext cx="153619" cy="153619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5246096" y="4572000"/>
            <a:ext cx="1699504" cy="1005840"/>
          </a:xfrm>
          <a:prstGeom prst="roundRect">
            <a:avLst>
              <a:gd name="adj" fmla="val 9090"/>
            </a:avLst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83256" y="4572000"/>
            <a:ext cx="1425184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lang="vi-VN">
                <a:solidFill>
                  <a:srgbClr val="C2362C"/>
                </a:solidFill>
                <a:latin typeface="Calibri"/>
              </a:rPr>
              <a:t>Trigger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Cập nhật sĩ số, ghi nhật ký thay đổi</a:t>
            </a:r>
          </a:p>
        </p:txBody>
      </p:sp>
      <p:sp>
        <p:nvSpPr>
          <p:cNvPr id="53" name="Oval 52"/>
          <p:cNvSpPr/>
          <p:nvPr/>
        </p:nvSpPr>
        <p:spPr>
          <a:xfrm>
            <a:off x="7064472" y="4937760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rrow-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4822" y="4998110"/>
            <a:ext cx="153619" cy="153619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7457664" y="4572000"/>
            <a:ext cx="1699504" cy="1005840"/>
          </a:xfrm>
          <a:prstGeom prst="roundRect">
            <a:avLst>
              <a:gd name="adj" fmla="val 909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4824" y="4572000"/>
            <a:ext cx="1425184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lang="vi-VN">
                <a:solidFill>
                  <a:srgbClr val="2448A8"/>
                </a:solidFill>
                <a:latin typeface="Calibri"/>
              </a:rPr>
              <a:t>COMMIT / THROW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Hợp lệ thì lưu; vi phạm thì THROW 50004</a:t>
            </a:r>
          </a:p>
        </p:txBody>
      </p:sp>
      <p:sp>
        <p:nvSpPr>
          <p:cNvPr id="57" name="Oval 56"/>
          <p:cNvSpPr/>
          <p:nvPr/>
        </p:nvSpPr>
        <p:spPr>
          <a:xfrm>
            <a:off x="9276039" y="4937760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390" y="4998110"/>
            <a:ext cx="153619" cy="153619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9669231" y="4572000"/>
            <a:ext cx="1699504" cy="1005840"/>
          </a:xfrm>
          <a:prstGeom prst="roundRect">
            <a:avLst>
              <a:gd name="adj" fmla="val 9090"/>
            </a:avLst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06391" y="4572000"/>
            <a:ext cx="1425184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lang="vi-VN">
                <a:solidFill>
                  <a:srgbClr val="3F4C61"/>
                </a:solidFill>
                <a:latin typeface="Calibri"/>
              </a:rPr>
              <a:t>Giao diện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Hiện nguyên văn “Lớp đã đủ sĩ số.”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960" y="5760720"/>
            <a:ext cx="1895832" cy="292608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4284B"/>
                </a:solidFill>
                <a:latin typeface="Calibri"/>
              </a:rPr>
              <a:t>XACT_ABORT + savepoint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55952" y="5760720"/>
            <a:ext cx="3012900" cy="292608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4284B"/>
                </a:solidFill>
                <a:latin typeface="Calibri"/>
              </a:rPr>
              <a:t>sp_getapplock, UPDLOCK chống tranh chấp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06013" y="5760720"/>
            <a:ext cx="2679192" cy="292608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4284B"/>
                </a:solidFill>
                <a:latin typeface="Calibri"/>
              </a:rPr>
              <a:t>Mã yêu cầu chống lập phiếu thu trùng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TRÌNH BÀY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Giao diện: Menu theo vai trò, form kiểm tra hai lớp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Nguyễn Bảo Giang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10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6047830" cy="3538728"/>
          </a:xfrm>
          <a:prstGeom prst="roundRect">
            <a:avLst>
              <a:gd name="adj" fmla="val 25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4944" y="1691640"/>
            <a:ext cx="91440" cy="9144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" y="1691640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1691640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34440" y="1659636"/>
            <a:ext cx="2377440" cy="155448"/>
          </a:xfrm>
          <a:prstGeom prst="roundRect">
            <a:avLst>
              <a:gd name="adj" fmla="val 5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lang="vi-VN">
                <a:solidFill>
                  <a:srgbClr val="5B6577"/>
                </a:solidFill>
                <a:latin typeface="Calibri"/>
              </a:rPr>
              <a:t>localhost:8501</a:t>
            </a:r>
          </a:p>
        </p:txBody>
      </p:sp>
      <p:pic>
        <p:nvPicPr>
          <p:cNvPr id="18" name="Picture 17" descr="02b_trang_chu_giao_vien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03504" y="1874520"/>
            <a:ext cx="5938102" cy="3209544"/>
          </a:xfrm>
          <a:prstGeom prst="rect">
            <a:avLst/>
          </a:prstGeom>
          <a:effectLst/>
        </p:spPr>
      </p:pic>
      <p:sp>
        <p:nvSpPr>
          <p:cNvPr id="19" name="Rounded Rectangle 18"/>
          <p:cNvSpPr/>
          <p:nvPr/>
        </p:nvSpPr>
        <p:spPr>
          <a:xfrm>
            <a:off x="6870790" y="1600200"/>
            <a:ext cx="4772265" cy="3538728"/>
          </a:xfrm>
          <a:prstGeom prst="roundRect">
            <a:avLst>
              <a:gd name="adj" fmla="val 25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17094" y="1691640"/>
            <a:ext cx="91440" cy="9144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72542" y="1691640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7990" y="1691640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6590" y="1659636"/>
            <a:ext cx="2377440" cy="155448"/>
          </a:xfrm>
          <a:prstGeom prst="roundRect">
            <a:avLst>
              <a:gd name="adj" fmla="val 5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lang="vi-VN">
                <a:solidFill>
                  <a:srgbClr val="5B6577"/>
                </a:solidFill>
                <a:latin typeface="Calibri"/>
              </a:rPr>
              <a:t>localhost:8501</a:t>
            </a:r>
          </a:p>
        </p:txBody>
      </p:sp>
      <p:pic>
        <p:nvPicPr>
          <p:cNvPr id="24" name="Picture 23" descr="14_phieu_thu.jpg"/>
          <p:cNvPicPr>
            <a:picLocks noChangeAspect="1"/>
          </p:cNvPicPr>
          <p:nvPr/>
        </p:nvPicPr>
        <p:blipFill>
          <a:blip r:embed="rId4"/>
          <a:srcRect t="16700" b="10651"/>
          <a:stretch>
            <a:fillRect/>
          </a:stretch>
        </p:blipFill>
        <p:spPr>
          <a:xfrm>
            <a:off x="6925654" y="1874520"/>
            <a:ext cx="4662537" cy="3209544"/>
          </a:xfrm>
          <a:prstGeom prst="rect">
            <a:avLst/>
          </a:prstGeom>
          <a:effectLst/>
        </p:spPr>
      </p:pic>
      <p:sp>
        <p:nvSpPr>
          <p:cNvPr id="25" name="Oval 24"/>
          <p:cNvSpPr/>
          <p:nvPr/>
        </p:nvSpPr>
        <p:spPr>
          <a:xfrm>
            <a:off x="548640" y="5321808"/>
            <a:ext cx="365760" cy="36576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st-tr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" y="5402275"/>
            <a:ext cx="204826" cy="20482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1560" y="5276088"/>
            <a:ext cx="554491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Menu 2 cấp, 8 nhóm theo nghiệp vụ</a:t>
            </a:r>
            <a:r>
              <a:rPr sz="1300" b="0" lang="vi-VN">
                <a:solidFill>
                  <a:srgbClr val="5B6577"/>
                </a:solidFill>
                <a:latin typeface="Calibri"/>
              </a:rPr>
              <a:t> – ẩn mục theo vai trò, chặn cả truy cập thẳng bằng URL</a:t>
            </a:r>
          </a:p>
        </p:txBody>
      </p:sp>
      <p:sp>
        <p:nvSpPr>
          <p:cNvPr id="28" name="Oval 27"/>
          <p:cNvSpPr/>
          <p:nvPr/>
        </p:nvSpPr>
        <p:spPr>
          <a:xfrm>
            <a:off x="6870790" y="5321808"/>
            <a:ext cx="365760" cy="36576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ecei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1257" y="5402275"/>
            <a:ext cx="204826" cy="20482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73710" y="5276088"/>
            <a:ext cx="4269345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Form master–detail</a:t>
            </a:r>
            <a:r>
              <a:rPr sz="1300" b="0" lang="vi-VN">
                <a:solidFill>
                  <a:srgbClr val="5B6577"/>
                </a:solidFill>
                <a:latin typeface="Calibri"/>
              </a:rPr>
              <a:t> – một phiếu thu nhiều khoản, lưu trong một giao dịch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61304"/>
            <a:ext cx="2636444" cy="310896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lang="vi-VN">
                <a:solidFill>
                  <a:srgbClr val="14284B"/>
                </a:solidFill>
                <a:latin typeface="Calibri"/>
              </a:rPr>
              <a:t>Lỗi hiện ngay dưới ô nhập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67964" y="5861304"/>
            <a:ext cx="2636444" cy="310896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lang="vi-VN">
                <a:solidFill>
                  <a:srgbClr val="14284B"/>
                </a:solidFill>
                <a:latin typeface="Calibri"/>
              </a:rPr>
              <a:t>CSDL kiểm tra lại lần hai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8" y="5861304"/>
            <a:ext cx="2636444" cy="310896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lang="vi-VN">
                <a:solidFill>
                  <a:srgbClr val="14284B"/>
                </a:solidFill>
                <a:latin typeface="Calibri"/>
              </a:rPr>
              <a:t>Xoá phải xác nhận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611" y="5861304"/>
            <a:ext cx="2636444" cy="310896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lang="vi-VN">
                <a:solidFill>
                  <a:srgbClr val="14284B"/>
                </a:solidFill>
                <a:latin typeface="Calibri"/>
              </a:rPr>
              <a:t>Form chỉ gọi view, procedure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TRÌNH BÀY THÔNG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Báo cáo và dashboard: Từ dữ liệu đến quyết định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Nguyễn Bảo Giang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11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4182340" cy="4572000"/>
          </a:xfrm>
          <a:prstGeom prst="roundRect">
            <a:avLst>
              <a:gd name="adj" fmla="val 218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4944" y="1691640"/>
            <a:ext cx="91440" cy="9144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" y="1691640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1691640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34440" y="1659636"/>
            <a:ext cx="2377440" cy="155448"/>
          </a:xfrm>
          <a:prstGeom prst="roundRect">
            <a:avLst>
              <a:gd name="adj" fmla="val 5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lang="vi-VN">
                <a:solidFill>
                  <a:srgbClr val="5B6577"/>
                </a:solidFill>
                <a:latin typeface="Calibri"/>
              </a:rPr>
              <a:t>localhost:8501</a:t>
            </a:r>
          </a:p>
        </p:txBody>
      </p:sp>
      <p:pic>
        <p:nvPicPr>
          <p:cNvPr id="18" name="Picture 17" descr="16_dashboard.jpg"/>
          <p:cNvPicPr>
            <a:picLocks noChangeAspect="1"/>
          </p:cNvPicPr>
          <p:nvPr/>
        </p:nvPicPr>
        <p:blipFill>
          <a:blip r:embed="rId3"/>
          <a:srcRect b="52000"/>
          <a:stretch>
            <a:fillRect/>
          </a:stretch>
        </p:blipFill>
        <p:spPr>
          <a:xfrm>
            <a:off x="603504" y="1874520"/>
            <a:ext cx="4072612" cy="4242816"/>
          </a:xfrm>
          <a:prstGeom prst="rect">
            <a:avLst/>
          </a:prstGeom>
          <a:effectLst/>
        </p:spPr>
      </p:pic>
      <p:pic>
        <p:nvPicPr>
          <p:cNvPr id="19" name="Picture 18" descr="20_pdf_doanh_thu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51020" y="1600200"/>
            <a:ext cx="2942131" cy="4160520"/>
          </a:xfrm>
          <a:prstGeom prst="rect">
            <a:avLst/>
          </a:prstGeom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5051020" y="5897880"/>
            <a:ext cx="294213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Báo cáo doanh thu xuất PDF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3191" y="1600200"/>
            <a:ext cx="3329864" cy="140208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41791" y="182880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le-tex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2375" y="1929384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36151" y="17373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lang="vi-VN">
                <a:solidFill>
                  <a:srgbClr val="14284B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0189" y="1737360"/>
            <a:ext cx="214114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báo cáo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1791" y="2423160"/>
            <a:ext cx="2872664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Định kỳ, theo yêu cầu, tổng hợp, biểu mẫu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13191" y="3185160"/>
            <a:ext cx="3329864" cy="140208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41791" y="341376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i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2375" y="3514344"/>
            <a:ext cx="256032" cy="25603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36151" y="332232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lang="vi-VN">
                <a:solidFill>
                  <a:srgbClr val="2F5BD3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40189" y="3322320"/>
            <a:ext cx="214114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định dạng xuất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1791" y="4008120"/>
            <a:ext cx="2872664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PDF (A4, A5), Excel, Word; giữ tô màu, dòng TB / Min / Max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13191" y="4770120"/>
            <a:ext cx="3329864" cy="140208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41791" y="499872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2375" y="5099304"/>
            <a:ext cx="256032" cy="25603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36151" y="49072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lang="vi-VN">
                <a:solidFill>
                  <a:srgbClr val="EF5A4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0189" y="4907280"/>
            <a:ext cx="214114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lang="vi-VN">
                <a:solidFill>
                  <a:srgbClr val="1E293B"/>
                </a:solidFill>
                <a:latin typeface="Calibri"/>
              </a:rPr>
              <a:t>KPI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1791" y="5593080"/>
            <a:ext cx="2872664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So với kỳ trước, cùng kỳ, mục tiêu; doanh thu đọc từ indexed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CSDL TIÊN TIẾN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Bốn mô hình CSDL: Quan hệ làm lõi, các mô hình khác bổ trợ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Đỗ Phạm Minh Trâm, Nguyễn Việt Phú, Đỗ Bình Dương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12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68880"/>
            <a:ext cx="11094415" cy="3127248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25496" y="1600200"/>
            <a:ext cx="2140382" cy="3995928"/>
          </a:xfrm>
          <a:prstGeom prst="roundRect">
            <a:avLst>
              <a:gd name="adj" fmla="val 5126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6080" y="1709928"/>
            <a:ext cx="420624" cy="420624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8617" y="1802465"/>
            <a:ext cx="235549" cy="2355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29000" y="1691640"/>
            <a:ext cx="148201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Quan hệ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SQL Server, đã cài đặt</a:t>
            </a:r>
          </a:p>
        </p:txBody>
      </p:sp>
      <p:sp>
        <p:nvSpPr>
          <p:cNvPr id="18" name="Oval 17"/>
          <p:cNvSpPr/>
          <p:nvPr/>
        </p:nvSpPr>
        <p:spPr>
          <a:xfrm>
            <a:off x="5139614" y="1709928"/>
            <a:ext cx="420624" cy="420624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o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151" y="1802465"/>
            <a:ext cx="235549" cy="2355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42534" y="1691640"/>
            <a:ext cx="148201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Hướng đối tượng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ODL 16 lớp, OID</a:t>
            </a:r>
          </a:p>
        </p:txBody>
      </p:sp>
      <p:sp>
        <p:nvSpPr>
          <p:cNvPr id="21" name="Oval 20"/>
          <p:cNvSpPr/>
          <p:nvPr/>
        </p:nvSpPr>
        <p:spPr>
          <a:xfrm>
            <a:off x="7353148" y="1709928"/>
            <a:ext cx="420624" cy="420624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685" y="1802465"/>
            <a:ext cx="235549" cy="2355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56068" y="1691640"/>
            <a:ext cx="148201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Phân tán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3 trạm, cam kết 2 pha</a:t>
            </a:r>
          </a:p>
        </p:txBody>
      </p:sp>
      <p:sp>
        <p:nvSpPr>
          <p:cNvPr id="24" name="Oval 23"/>
          <p:cNvSpPr/>
          <p:nvPr/>
        </p:nvSpPr>
        <p:spPr>
          <a:xfrm>
            <a:off x="9566681" y="1709928"/>
            <a:ext cx="420624" cy="420624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br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9219" y="1802465"/>
            <a:ext cx="235549" cy="2355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69601" y="1691640"/>
            <a:ext cx="148201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NoSQL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MongoDB, 4 collection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468880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Mô hình hoá bài toán</a:t>
            </a:r>
          </a:p>
        </p:txBody>
      </p:sp>
      <p:sp>
        <p:nvSpPr>
          <p:cNvPr id="28" name="Oval 27"/>
          <p:cNvSpPr/>
          <p:nvPr/>
        </p:nvSpPr>
        <p:spPr>
          <a:xfrm>
            <a:off x="2953512" y="2660904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08960" y="2660904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64408" y="2660904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2468880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Tách bảng đa trị</a:t>
            </a:r>
          </a:p>
        </p:txBody>
      </p:sp>
      <p:sp>
        <p:nvSpPr>
          <p:cNvPr id="32" name="Oval 31"/>
          <p:cNvSpPr/>
          <p:nvPr/>
        </p:nvSpPr>
        <p:spPr>
          <a:xfrm>
            <a:off x="5167046" y="2660904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22494" y="2660904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77942" y="2660904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88254" y="2468880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Tự nhiên nhất</a:t>
            </a:r>
          </a:p>
        </p:txBody>
      </p:sp>
      <p:sp>
        <p:nvSpPr>
          <p:cNvPr id="36" name="Oval 35"/>
          <p:cNvSpPr/>
          <p:nvPr/>
        </p:nvSpPr>
        <p:spPr>
          <a:xfrm>
            <a:off x="7380580" y="2660904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36028" y="2660904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91476" y="2660904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1788" y="2468880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Như quan hệ</a:t>
            </a:r>
          </a:p>
        </p:txBody>
      </p:sp>
      <p:sp>
        <p:nvSpPr>
          <p:cNvPr id="40" name="Oval 39"/>
          <p:cNvSpPr/>
          <p:nvPr/>
        </p:nvSpPr>
        <p:spPr>
          <a:xfrm>
            <a:off x="9594113" y="2660904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49561" y="2660904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905009" y="2660904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15321" y="2468880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Tự nhiên cho hồ sơ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2962656"/>
            <a:ext cx="2194560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39030" y="2962656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52564" y="2962656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66097" y="2962656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2962656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Toàn vẹn, giao dịch</a:t>
            </a:r>
          </a:p>
        </p:txBody>
      </p:sp>
      <p:sp>
        <p:nvSpPr>
          <p:cNvPr id="49" name="Oval 48"/>
          <p:cNvSpPr/>
          <p:nvPr/>
        </p:nvSpPr>
        <p:spPr>
          <a:xfrm>
            <a:off x="2953512" y="3154680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108960" y="3154680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264408" y="3154680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0" y="2962656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ACID, FK, CHECK</a:t>
            </a:r>
          </a:p>
        </p:txBody>
      </p:sp>
      <p:sp>
        <p:nvSpPr>
          <p:cNvPr id="53" name="Oval 52"/>
          <p:cNvSpPr/>
          <p:nvPr/>
        </p:nvSpPr>
        <p:spPr>
          <a:xfrm>
            <a:off x="5167046" y="3154680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322494" y="3154680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77942" y="3154680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88254" y="2962656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Tự viết trong lớp</a:t>
            </a:r>
          </a:p>
        </p:txBody>
      </p:sp>
      <p:sp>
        <p:nvSpPr>
          <p:cNvPr id="57" name="Oval 56"/>
          <p:cNvSpPr/>
          <p:nvPr/>
        </p:nvSpPr>
        <p:spPr>
          <a:xfrm>
            <a:off x="7380580" y="3154680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36028" y="3154680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691476" y="3154680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01788" y="2962656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ACID cục bộ + 2PC</a:t>
            </a:r>
          </a:p>
        </p:txBody>
      </p:sp>
      <p:sp>
        <p:nvSpPr>
          <p:cNvPr id="61" name="Oval 60"/>
          <p:cNvSpPr/>
          <p:nvPr/>
        </p:nvSpPr>
        <p:spPr>
          <a:xfrm>
            <a:off x="9594113" y="3154680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749561" y="3154680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05009" y="3154680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15321" y="2962656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Không khoá ngoại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Thống kê, báo cáo</a:t>
            </a:r>
          </a:p>
        </p:txBody>
      </p:sp>
      <p:sp>
        <p:nvSpPr>
          <p:cNvPr id="66" name="Oval 65"/>
          <p:cNvSpPr/>
          <p:nvPr/>
        </p:nvSpPr>
        <p:spPr>
          <a:xfrm>
            <a:off x="2953512" y="3648456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108960" y="3648456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64408" y="3648456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0" y="3456432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Mạnh nhất</a:t>
            </a:r>
          </a:p>
        </p:txBody>
      </p:sp>
      <p:sp>
        <p:nvSpPr>
          <p:cNvPr id="70" name="Oval 69"/>
          <p:cNvSpPr/>
          <p:nvPr/>
        </p:nvSpPr>
        <p:spPr>
          <a:xfrm>
            <a:off x="5167046" y="3648456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22494" y="3648456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477942" y="3648456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88254" y="3456432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Vấn đề N+1</a:t>
            </a:r>
          </a:p>
        </p:txBody>
      </p:sp>
      <p:sp>
        <p:nvSpPr>
          <p:cNvPr id="74" name="Oval 73"/>
          <p:cNvSpPr/>
          <p:nvPr/>
        </p:nvSpPr>
        <p:spPr>
          <a:xfrm>
            <a:off x="7380580" y="3648456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36028" y="3648456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691476" y="3648456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01788" y="3456432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Liên trạm tốn kém</a:t>
            </a:r>
          </a:p>
        </p:txBody>
      </p:sp>
      <p:sp>
        <p:nvSpPr>
          <p:cNvPr id="78" name="Oval 77"/>
          <p:cNvSpPr/>
          <p:nvPr/>
        </p:nvSpPr>
        <p:spPr>
          <a:xfrm>
            <a:off x="9594113" y="3648456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749561" y="3648456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05009" y="3648456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15321" y="3456432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Aggregation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" y="3950208"/>
            <a:ext cx="2194560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39030" y="3950208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52564" y="3950208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466097" y="3950208"/>
            <a:ext cx="2140382" cy="493776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3950208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Đọc trọn một hồ sơ</a:t>
            </a:r>
          </a:p>
        </p:txBody>
      </p:sp>
      <p:sp>
        <p:nvSpPr>
          <p:cNvPr id="87" name="Oval 86"/>
          <p:cNvSpPr/>
          <p:nvPr/>
        </p:nvSpPr>
        <p:spPr>
          <a:xfrm>
            <a:off x="2953512" y="4142232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108960" y="4142232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264408" y="4142232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74720" y="3950208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Nhiều phép JOIN</a:t>
            </a:r>
          </a:p>
        </p:txBody>
      </p:sp>
      <p:sp>
        <p:nvSpPr>
          <p:cNvPr id="91" name="Oval 90"/>
          <p:cNvSpPr/>
          <p:nvPr/>
        </p:nvSpPr>
        <p:spPr>
          <a:xfrm>
            <a:off x="5167046" y="4142232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322494" y="4142232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477942" y="4142232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88254" y="3950208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Duyệt đối tượng</a:t>
            </a:r>
          </a:p>
        </p:txBody>
      </p:sp>
      <p:sp>
        <p:nvSpPr>
          <p:cNvPr id="95" name="Oval 94"/>
          <p:cNvSpPr/>
          <p:nvPr/>
        </p:nvSpPr>
        <p:spPr>
          <a:xfrm>
            <a:off x="7380580" y="4142232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536028" y="4142232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691476" y="4142232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01788" y="3950208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Như quan hệ</a:t>
            </a:r>
          </a:p>
        </p:txBody>
      </p:sp>
      <p:sp>
        <p:nvSpPr>
          <p:cNvPr id="99" name="Oval 98"/>
          <p:cNvSpPr/>
          <p:nvPr/>
        </p:nvSpPr>
        <p:spPr>
          <a:xfrm>
            <a:off x="9594113" y="4142232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749561" y="4142232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905009" y="4142232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15321" y="3950208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Một document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7240" y="4443984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Mở rộng quy mô</a:t>
            </a:r>
          </a:p>
        </p:txBody>
      </p:sp>
      <p:sp>
        <p:nvSpPr>
          <p:cNvPr id="104" name="Oval 103"/>
          <p:cNvSpPr/>
          <p:nvPr/>
        </p:nvSpPr>
        <p:spPr>
          <a:xfrm>
            <a:off x="2953512" y="4636008"/>
            <a:ext cx="109728" cy="109728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108960" y="4636008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264408" y="4636008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74720" y="4443984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Theo chiều dọc</a:t>
            </a:r>
          </a:p>
        </p:txBody>
      </p:sp>
      <p:sp>
        <p:nvSpPr>
          <p:cNvPr id="108" name="Oval 107"/>
          <p:cNvSpPr/>
          <p:nvPr/>
        </p:nvSpPr>
        <p:spPr>
          <a:xfrm>
            <a:off x="5167046" y="4636008"/>
            <a:ext cx="109728" cy="10972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322494" y="4636008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477942" y="4636008"/>
            <a:ext cx="109728" cy="109728"/>
          </a:xfrm>
          <a:prstGeom prst="ellipse">
            <a:avLst/>
          </a:prstGeom>
          <a:solidFill>
            <a:srgbClr val="D5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88254" y="4443984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Theo chiều dọc</a:t>
            </a:r>
          </a:p>
        </p:txBody>
      </p:sp>
      <p:sp>
        <p:nvSpPr>
          <p:cNvPr id="112" name="Oval 111"/>
          <p:cNvSpPr/>
          <p:nvPr/>
        </p:nvSpPr>
        <p:spPr>
          <a:xfrm>
            <a:off x="7380580" y="4636008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536028" y="4636008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691476" y="4636008"/>
            <a:ext cx="109728" cy="109728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01788" y="4443984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Ngang (chi nhánh)</a:t>
            </a:r>
          </a:p>
        </p:txBody>
      </p:sp>
      <p:sp>
        <p:nvSpPr>
          <p:cNvPr id="116" name="Oval 115"/>
          <p:cNvSpPr/>
          <p:nvPr/>
        </p:nvSpPr>
        <p:spPr>
          <a:xfrm>
            <a:off x="9594113" y="4636008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749561" y="4636008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905009" y="4636008"/>
            <a:ext cx="109728" cy="109728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115321" y="4443984"/>
            <a:ext cx="148201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1E293B"/>
                </a:solidFill>
                <a:latin typeface="Calibri"/>
              </a:rPr>
              <a:t>Ngang (sharding)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77240" y="4937760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E293B"/>
                </a:solidFill>
                <a:latin typeface="Calibri"/>
              </a:rPr>
              <a:t>Số liệu đo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53512" y="4937760"/>
            <a:ext cx="1939214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4284B"/>
                </a:solidFill>
                <a:latin typeface="Calibri"/>
              </a:rPr>
              <a:t>Nguồn gốc, cài đặt đầy đủ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67046" y="4937760"/>
            <a:ext cx="1939214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2448A8"/>
                </a:solidFill>
                <a:latin typeface="Calibri"/>
              </a:rPr>
              <a:t>Nạp lười: 889 câu SQL, nạp trước: 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80580" y="4937760"/>
            <a:ext cx="1939214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157F55"/>
                </a:solidFill>
                <a:latin typeface="Calibri"/>
              </a:rPr>
              <a:t>Nửa kết giảm 73% byte truyền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594113" y="4937760"/>
            <a:ext cx="1939214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C2362C"/>
                </a:solidFill>
                <a:latin typeface="Calibri"/>
              </a:rPr>
              <a:t>Hồ sơ 0,70 ms so với 3,62 ms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8640" y="5733288"/>
            <a:ext cx="11094415" cy="438912"/>
          </a:xfrm>
          <a:prstGeom prst="roundRect">
            <a:avLst>
              <a:gd name="adj" fmla="val 208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FFB4AE"/>
                </a:solidFill>
                <a:latin typeface="Calibri"/>
              </a:rPr>
              <a:t>Kết luận:</a:t>
            </a:r>
            <a:r>
              <a:rPr sz="1400" b="0" lang="vi-VN">
                <a:solidFill>
                  <a:srgbClr val="FFFFFF"/>
                </a:solidFill>
                <a:latin typeface="Calibri"/>
              </a:rPr>
              <a:t> Quan hệ tập trung làm lõi · phân tán khi mở rộng ra nhiều tỉnh · NoSQL làm kho phụ (polyglot persistence)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KIỂM THỬ, DEMO,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Kiểm thử tích hợp: Dựng lại toàn bộ từ CSDL trống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13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1809232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883664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98448" y="1783080"/>
            <a:ext cx="98627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00">
                <a:solidFill>
                  <a:srgbClr val="5B6577"/>
                </a:solidFill>
                <a:latin typeface="Calibri"/>
              </a:rPr>
              <a:t>BƯỚC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77440"/>
            <a:ext cx="14434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Khởi động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SQL Server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926080"/>
            <a:ext cx="1443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≈ 16 giây</a:t>
            </a:r>
          </a:p>
        </p:txBody>
      </p:sp>
      <p:sp>
        <p:nvSpPr>
          <p:cNvPr id="19" name="Oval 18"/>
          <p:cNvSpPr/>
          <p:nvPr/>
        </p:nvSpPr>
        <p:spPr>
          <a:xfrm>
            <a:off x="2476744" y="2350008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094" y="2410358"/>
            <a:ext cx="153619" cy="15361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869936" y="1600200"/>
            <a:ext cx="1809232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52816" y="178308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3400" y="1883664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19744" y="1783080"/>
            <a:ext cx="98627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00">
                <a:solidFill>
                  <a:srgbClr val="5B6577"/>
                </a:solidFill>
                <a:latin typeface="Calibri"/>
              </a:rPr>
              <a:t>BƯỚC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2816" y="2377440"/>
            <a:ext cx="14434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Dựng CSDL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từ 9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52816" y="2926080"/>
            <a:ext cx="1443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≈ 18–20 giây</a:t>
            </a:r>
          </a:p>
        </p:txBody>
      </p:sp>
      <p:sp>
        <p:nvSpPr>
          <p:cNvPr id="27" name="Oval 26"/>
          <p:cNvSpPr/>
          <p:nvPr/>
        </p:nvSpPr>
        <p:spPr>
          <a:xfrm>
            <a:off x="4798040" y="2350008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390" y="2410358"/>
            <a:ext cx="153619" cy="153619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191232" y="1600200"/>
            <a:ext cx="1809232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74112" y="178308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lask-con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4696" y="1883664"/>
            <a:ext cx="2560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1040" y="1783080"/>
            <a:ext cx="98627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00">
                <a:solidFill>
                  <a:srgbClr val="5B6577"/>
                </a:solidFill>
                <a:latin typeface="Calibri"/>
              </a:rPr>
              <a:t>BƯỚC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4112" y="2377440"/>
            <a:ext cx="14434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Kiểm thử SQL: 4 bộ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4112" y="2926080"/>
            <a:ext cx="1443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114 ca đạt</a:t>
            </a:r>
          </a:p>
        </p:txBody>
      </p:sp>
      <p:sp>
        <p:nvSpPr>
          <p:cNvPr id="35" name="Oval 34"/>
          <p:cNvSpPr/>
          <p:nvPr/>
        </p:nvSpPr>
        <p:spPr>
          <a:xfrm>
            <a:off x="7119336" y="2350008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9686" y="2410358"/>
            <a:ext cx="153619" cy="15361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512528" y="1600200"/>
            <a:ext cx="1809232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95408" y="178308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5992" y="1883664"/>
            <a:ext cx="256032" cy="256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62336" y="1783080"/>
            <a:ext cx="98627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00">
                <a:solidFill>
                  <a:srgbClr val="5B6577"/>
                </a:solidFill>
                <a:latin typeface="Calibri"/>
              </a:rPr>
              <a:t>BƯỚC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5408" y="2377440"/>
            <a:ext cx="14434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31 truy vấn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nghiệp vụ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95408" y="2926080"/>
            <a:ext cx="1443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≈ 4 giây, không lỗi</a:t>
            </a:r>
          </a:p>
        </p:txBody>
      </p:sp>
      <p:sp>
        <p:nvSpPr>
          <p:cNvPr id="43" name="Oval 42"/>
          <p:cNvSpPr/>
          <p:nvPr/>
        </p:nvSpPr>
        <p:spPr>
          <a:xfrm>
            <a:off x="9440631" y="2350008"/>
            <a:ext cx="274320" cy="274320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982" y="2410358"/>
            <a:ext cx="153619" cy="153619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833823" y="1600200"/>
            <a:ext cx="1809232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16703" y="1783080"/>
            <a:ext cx="457200" cy="45720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layout-dash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7287" y="1883664"/>
            <a:ext cx="256032" cy="2560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83631" y="1783080"/>
            <a:ext cx="98627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lang="vi-VN" spc="100">
                <a:solidFill>
                  <a:srgbClr val="5B6577"/>
                </a:solidFill>
                <a:latin typeface="Calibri"/>
              </a:rPr>
              <a:t>BƯỚC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6703" y="2377440"/>
            <a:ext cx="14434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Kiểm thử giao diện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6703" y="2926080"/>
            <a:ext cx="1443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lang="vi-VN">
                <a:solidFill>
                  <a:srgbClr val="157F55"/>
                </a:solidFill>
                <a:latin typeface="Calibri"/>
              </a:rPr>
              <a:t>125 ca đạt, ≈ 30 giây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36576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02336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lang="vi-VN">
                <a:solidFill>
                  <a:srgbClr val="157F55"/>
                </a:solidFill>
                <a:latin typeface="Calibri"/>
              </a:rPr>
              <a:t>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4754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ca kiểm thử SQL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0749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39 procedure · 22 trigger · 53 phân quyền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80360" y="36576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402336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lang="vi-VN">
                <a:solidFill>
                  <a:srgbClr val="157F55"/>
                </a:solidFill>
                <a:latin typeface="Calibri"/>
              </a:rPr>
              <a:t>125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4754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ca kiểm thử giao diện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749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Mọi trang × mọi vai trò, xuất PDF, Excel, Word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212080" y="36576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40680" y="402336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&lt; 150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0680" y="4754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lang="vi-VN">
                <a:solidFill>
                  <a:srgbClr val="1E293B"/>
                </a:solidFill>
                <a:latin typeface="Calibri"/>
              </a:rPr>
              <a:t>mỗi thao tác tra cứu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0749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Đo trên bản sao 10.121 học viên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589520" y="3657600"/>
            <a:ext cx="4053535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0" y="3858768"/>
            <a:ext cx="35048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Quy trình làm việc nhóm</a:t>
            </a:r>
          </a:p>
        </p:txBody>
      </p:sp>
      <p:sp>
        <p:nvSpPr>
          <p:cNvPr id="65" name="Oval 64"/>
          <p:cNvSpPr/>
          <p:nvPr/>
        </p:nvSpPr>
        <p:spPr>
          <a:xfrm>
            <a:off x="7863840" y="4343400"/>
            <a:ext cx="384048" cy="38404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it-pull-reques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8331" y="4427891"/>
            <a:ext cx="215067" cy="21506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412480" y="4297680"/>
            <a:ext cx="300197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30 công việc = 30 issue, mỗi việc một Pull Request vào develop</a:t>
            </a:r>
          </a:p>
        </p:txBody>
      </p:sp>
      <p:sp>
        <p:nvSpPr>
          <p:cNvPr id="68" name="Oval 67"/>
          <p:cNvSpPr/>
          <p:nvPr/>
        </p:nvSpPr>
        <p:spPr>
          <a:xfrm>
            <a:off x="7863840" y="5001768"/>
            <a:ext cx="384048" cy="38404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48331" y="5086259"/>
            <a:ext cx="215067" cy="21506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12480" y="4956048"/>
            <a:ext cx="300197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GitHub Actions dựng lại và kiểm thử khi có PR hoặc push vào main</a:t>
            </a:r>
          </a:p>
        </p:txBody>
      </p:sp>
      <p:sp>
        <p:nvSpPr>
          <p:cNvPr id="71" name="Oval 70"/>
          <p:cNvSpPr/>
          <p:nvPr/>
        </p:nvSpPr>
        <p:spPr>
          <a:xfrm>
            <a:off x="7863840" y="5660136"/>
            <a:ext cx="384048" cy="384048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rou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8331" y="5744627"/>
            <a:ext cx="215067" cy="21506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12480" y="5614416"/>
            <a:ext cx="300197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Rà soát theo bài giảng → đợt khắc phục T30, đo lại số liệu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8F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8F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8F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8F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8F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DEMO TRỰC TIẾP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Một vòng nghiệp vụ qua năm vai trò – khoảng 3 phút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8FA3C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8FA3C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FFFFFF"/>
                </a:solidFill>
                <a:latin typeface="Calibri"/>
              </a:rPr>
              <a:t>Cả nhóm</a:t>
            </a:r>
            <a:r>
              <a:rPr sz="1000" b="0" lang="vi-VN">
                <a:solidFill>
                  <a:srgbClr val="8FA3C7"/>
                </a:solidFill>
                <a:latin typeface="Calibri"/>
              </a:rPr>
              <a:t>   ·   14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1809232" cy="3566160"/>
          </a:xfrm>
          <a:prstGeom prst="roundRect">
            <a:avLst>
              <a:gd name="adj" fmla="val 6064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201168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699504" y="201168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lipboard-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88" y="2112264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2651760"/>
            <a:ext cx="1406896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Giáo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063240"/>
            <a:ext cx="1406896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FFFFFF"/>
                </a:solidFill>
                <a:latin typeface="Calibri"/>
              </a:rPr>
              <a:t>Ghi danh học viên vào lớp đã đầy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97680"/>
            <a:ext cx="1589776" cy="914400"/>
          </a:xfrm>
          <a:prstGeom prst="roundRect">
            <a:avLst>
              <a:gd name="adj" fmla="val 8000"/>
            </a:avLst>
          </a:prstGeom>
          <a:solidFill>
            <a:srgbClr val="2A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6C177"/>
                </a:solidFill>
                <a:latin typeface="Calibri"/>
              </a:rPr>
              <a:t>CSDL chặn: “Lớp đã đủ sĩ số.”</a:t>
            </a:r>
          </a:p>
        </p:txBody>
      </p:sp>
      <p:sp>
        <p:nvSpPr>
          <p:cNvPr id="20" name="Oval 19"/>
          <p:cNvSpPr/>
          <p:nvPr/>
        </p:nvSpPr>
        <p:spPr>
          <a:xfrm>
            <a:off x="2476744" y="3429000"/>
            <a:ext cx="274320" cy="27432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094" y="3489350"/>
            <a:ext cx="153619" cy="1536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869936" y="1783080"/>
            <a:ext cx="1809232" cy="3566160"/>
          </a:xfrm>
          <a:prstGeom prst="roundRect">
            <a:avLst>
              <a:gd name="adj" fmla="val 6064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71104" y="201168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4020800" y="201168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rece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1384" y="2112264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071104" y="2651760"/>
            <a:ext cx="1406896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Kế toán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1104" y="3063240"/>
            <a:ext cx="1406896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FFFFFF"/>
                </a:solidFill>
                <a:latin typeface="Calibri"/>
              </a:rPr>
              <a:t>Lập phiếu thu hai khoản, in PDF A5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79664" y="4297680"/>
            <a:ext cx="1589776" cy="914400"/>
          </a:xfrm>
          <a:prstGeom prst="roundRect">
            <a:avLst>
              <a:gd name="adj" fmla="val 8000"/>
            </a:avLst>
          </a:prstGeom>
          <a:solidFill>
            <a:srgbClr val="2A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6C177"/>
                </a:solidFill>
                <a:latin typeface="Calibri"/>
              </a:rPr>
              <a:t>Master–detail trong một giao dịch</a:t>
            </a:r>
          </a:p>
        </p:txBody>
      </p:sp>
      <p:sp>
        <p:nvSpPr>
          <p:cNvPr id="29" name="Oval 28"/>
          <p:cNvSpPr/>
          <p:nvPr/>
        </p:nvSpPr>
        <p:spPr>
          <a:xfrm>
            <a:off x="4798040" y="3429000"/>
            <a:ext cx="274320" cy="27432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390" y="3489350"/>
            <a:ext cx="153619" cy="15361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5191232" y="1783080"/>
            <a:ext cx="1809232" cy="3566160"/>
          </a:xfrm>
          <a:prstGeom prst="roundRect">
            <a:avLst>
              <a:gd name="adj" fmla="val 6064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92400" y="201168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Oval 32"/>
          <p:cNvSpPr/>
          <p:nvPr/>
        </p:nvSpPr>
        <p:spPr>
          <a:xfrm>
            <a:off x="6342096" y="201168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alendar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2680" y="2112264"/>
            <a:ext cx="256032" cy="2560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392400" y="2651760"/>
            <a:ext cx="1406896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Giáo viên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2400" y="3063240"/>
            <a:ext cx="1406896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FFFFFF"/>
                </a:solidFill>
                <a:latin typeface="Calibri"/>
              </a:rPr>
              <a:t>Điểm danh cả lớp, quét cảnh báo chuyên cần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0960" y="4297680"/>
            <a:ext cx="1589776" cy="914400"/>
          </a:xfrm>
          <a:prstGeom prst="roundRect">
            <a:avLst>
              <a:gd name="adj" fmla="val 8000"/>
            </a:avLst>
          </a:prstGeom>
          <a:solidFill>
            <a:srgbClr val="2A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6C177"/>
                </a:solidFill>
                <a:latin typeface="Calibri"/>
              </a:rPr>
              <a:t>Trigger tính kết quả, cursor cảnh báo</a:t>
            </a:r>
          </a:p>
        </p:txBody>
      </p:sp>
      <p:sp>
        <p:nvSpPr>
          <p:cNvPr id="38" name="Oval 37"/>
          <p:cNvSpPr/>
          <p:nvPr/>
        </p:nvSpPr>
        <p:spPr>
          <a:xfrm>
            <a:off x="7119336" y="3429000"/>
            <a:ext cx="274320" cy="27432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9686" y="3489350"/>
            <a:ext cx="153619" cy="153619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7512528" y="1783080"/>
            <a:ext cx="1809232" cy="3566160"/>
          </a:xfrm>
          <a:prstGeom prst="roundRect">
            <a:avLst>
              <a:gd name="adj" fmla="val 6064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13696" y="201168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8663391" y="201168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graduation-c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975" y="2112264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713696" y="2651760"/>
            <a:ext cx="1406896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Học viên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13696" y="3063240"/>
            <a:ext cx="1406896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FFFFFF"/>
                </a:solidFill>
                <a:latin typeface="Calibri"/>
              </a:rPr>
              <a:t>Xem lịch học, điểm, học phí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22256" y="4297680"/>
            <a:ext cx="1589776" cy="914400"/>
          </a:xfrm>
          <a:prstGeom prst="roundRect">
            <a:avLst>
              <a:gd name="adj" fmla="val 8000"/>
            </a:avLst>
          </a:prstGeom>
          <a:solidFill>
            <a:srgbClr val="2A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6C177"/>
                </a:solidFill>
                <a:latin typeface="Calibri"/>
              </a:rPr>
              <a:t>Chỉ thấy dữ liệu của chính mình</a:t>
            </a:r>
          </a:p>
        </p:txBody>
      </p:sp>
      <p:sp>
        <p:nvSpPr>
          <p:cNvPr id="47" name="Oval 46"/>
          <p:cNvSpPr/>
          <p:nvPr/>
        </p:nvSpPr>
        <p:spPr>
          <a:xfrm>
            <a:off x="9440631" y="3429000"/>
            <a:ext cx="274320" cy="27432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982" y="3489350"/>
            <a:ext cx="153619" cy="15361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833823" y="1783080"/>
            <a:ext cx="1809232" cy="3566160"/>
          </a:xfrm>
          <a:prstGeom prst="roundRect">
            <a:avLst>
              <a:gd name="adj" fmla="val 6064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34991" y="201168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1" name="Oval 50"/>
          <p:cNvSpPr/>
          <p:nvPr/>
        </p:nvSpPr>
        <p:spPr>
          <a:xfrm>
            <a:off x="10984687" y="201168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gau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5271" y="2112264"/>
            <a:ext cx="256032" cy="2560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034991" y="2651760"/>
            <a:ext cx="1406896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lang="vi-VN">
                <a:solidFill>
                  <a:srgbClr val="FFFFFF"/>
                </a:solidFill>
                <a:latin typeface="Calibri"/>
              </a:rPr>
              <a:t>Quản lý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4991" y="3063240"/>
            <a:ext cx="1406896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lang="vi-VN">
                <a:solidFill>
                  <a:srgbClr val="FFFFFF"/>
                </a:solidFill>
                <a:latin typeface="Calibri"/>
              </a:rPr>
              <a:t>Mở dashboard, rồi nhật ký hệ thống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551" y="4297680"/>
            <a:ext cx="1589776" cy="914400"/>
          </a:xfrm>
          <a:prstGeom prst="roundRect">
            <a:avLst>
              <a:gd name="adj" fmla="val 8000"/>
            </a:avLst>
          </a:prstGeom>
          <a:solidFill>
            <a:srgbClr val="2A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F6C177"/>
                </a:solidFill>
                <a:latin typeface="Calibri"/>
              </a:rPr>
              <a:t>Ai đã thao tác gì, lúc nào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C7D2E8"/>
                </a:solidFill>
                <a:latin typeface="Calibri"/>
              </a:rPr>
              <a:t>Mã nguồn: github.com/nhutruong-uit/ecms – dựng lại toàn bộ CSDL bằng một lệnh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KIỂM THỬ, DEMO,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Phân công: 30 công việc, mỗi thành viên 5–7 việc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15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2036003" cy="38862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78022" y="1828800"/>
            <a:ext cx="777240" cy="777240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1853123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Trương Quang Như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1853123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Nhóm trưởng · 25540022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37560"/>
            <a:ext cx="1853123" cy="274320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lang="vi-VN">
                <a:solidFill>
                  <a:srgbClr val="14284B"/>
                </a:solidFill>
                <a:latin typeface="Calibri"/>
              </a:rPr>
              <a:t>T01–T03, T15, T19, T29, T30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60"/>
            <a:ext cx="1761683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Quản lý dự án, Chương 1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Hạ tầng, phân quyền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Kiểm thử tự động,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19472"/>
            <a:ext cx="2036003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20%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13243" y="1600200"/>
            <a:ext cx="2036003" cy="38862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42625" y="1828800"/>
            <a:ext cx="777240" cy="77724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4683" y="2697480"/>
            <a:ext cx="1853123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Đỗ Phạm Minh Trâm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4683" y="2971800"/>
            <a:ext cx="1853123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Thành viên · 25540042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4683" y="3337560"/>
            <a:ext cx="1853123" cy="27432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lang="vi-VN">
                <a:solidFill>
                  <a:srgbClr val="2448A8"/>
                </a:solidFill>
                <a:latin typeface="Calibri"/>
              </a:rPr>
              <a:t>T04–T07, T20, T25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0403" y="3794760"/>
            <a:ext cx="1761683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ERD, sơ đồ lớp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Chuẩn hoá, tạo bảng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CSDL hướng đối tượng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3243" y="4919472"/>
            <a:ext cx="2036003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20%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77846" y="1600200"/>
            <a:ext cx="2036003" cy="38862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07228" y="1828800"/>
            <a:ext cx="777240" cy="7772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9286" y="2697480"/>
            <a:ext cx="1853123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Đỗ Bình Dương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9286" y="2971800"/>
            <a:ext cx="1853123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Thành viên · 25540008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9286" y="3337560"/>
            <a:ext cx="1853123" cy="274320"/>
          </a:xfrm>
          <a:prstGeom prst="roundRect">
            <a:avLst>
              <a:gd name="adj" fmla="val 50000"/>
            </a:avLst>
          </a:prstGeom>
          <a:solidFill>
            <a:srgbClr val="E5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lang="vi-VN">
                <a:solidFill>
                  <a:srgbClr val="157F55"/>
                </a:solidFill>
                <a:latin typeface="Calibri"/>
              </a:rPr>
              <a:t>T08–T10, T18, T21, T27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5006" y="3794760"/>
            <a:ext cx="1761683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Dữ liệu mẫu, truy vấn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XML, nhập / xuất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NoSQL (MongoDB)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7846" y="4919472"/>
            <a:ext cx="2036003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20%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42449" y="1600200"/>
            <a:ext cx="2036003" cy="38862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71831" y="1828800"/>
            <a:ext cx="777240" cy="77724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33889" y="2697480"/>
            <a:ext cx="1853123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Nguyễn Việt Phú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33889" y="2971800"/>
            <a:ext cx="1853123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Thành viên · 25540025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33889" y="3337560"/>
            <a:ext cx="1853123" cy="274320"/>
          </a:xfrm>
          <a:prstGeom prst="roundRect">
            <a:avLst>
              <a:gd name="adj" fmla="val 50000"/>
            </a:avLst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lang="vi-VN">
                <a:solidFill>
                  <a:srgbClr val="C2362C"/>
                </a:solidFill>
                <a:latin typeface="Calibri"/>
              </a:rPr>
              <a:t>T11–T14, T22, T26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609" y="3794760"/>
            <a:ext cx="1761683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Procedure, function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Trigger, cursor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CSDL phân tán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449" y="4919472"/>
            <a:ext cx="2036003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20%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7052" y="1600200"/>
            <a:ext cx="2036003" cy="38862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36434" y="1828800"/>
            <a:ext cx="777240" cy="777240"/>
          </a:xfrm>
          <a:prstGeom prst="ellipse">
            <a:avLst/>
          </a:prstGeom>
          <a:solidFill>
            <a:srgbClr val="6D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8492" y="2697480"/>
            <a:ext cx="1853123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vi-VN">
                <a:solidFill>
                  <a:srgbClr val="1E293B"/>
                </a:solidFill>
                <a:latin typeface="Calibri"/>
              </a:rPr>
              <a:t>Nguyễn Bảo Giang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8492" y="2971800"/>
            <a:ext cx="1853123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5B6577"/>
                </a:solidFill>
                <a:latin typeface="Calibri"/>
              </a:rPr>
              <a:t>Thành viên · 25540009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98492" y="3337560"/>
            <a:ext cx="1853123" cy="274320"/>
          </a:xfrm>
          <a:prstGeom prst="roundRect">
            <a:avLst>
              <a:gd name="adj" fmla="val 50000"/>
            </a:avLst>
          </a:prstGeom>
          <a:solidFill>
            <a:srgbClr val="EF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lang="vi-VN">
                <a:solidFill>
                  <a:srgbClr val="5136A3"/>
                </a:solidFill>
                <a:latin typeface="Calibri"/>
              </a:rPr>
              <a:t>T16, T17, T23, T24, T28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44212" y="3794760"/>
            <a:ext cx="1761683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View, sao lưu, phục hồi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Báo cáo, dashboard</a:t>
            </a:r>
          </a:p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300" b="0" lang="vi-VN">
                <a:solidFill>
                  <a:srgbClr val="1E293B"/>
                </a:solidFill>
                <a:latin typeface="Calibri"/>
              </a:rPr>
              <a:t>Trang Tài chính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7052" y="4919472"/>
            <a:ext cx="2036003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lang="vi-VN">
                <a:solidFill>
                  <a:srgbClr val="EF5A4F"/>
                </a:solidFill>
                <a:latin typeface="Calibri"/>
              </a:rPr>
              <a:t>20%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lang="vi-VN">
                <a:solidFill>
                  <a:srgbClr val="5B6577"/>
                </a:solidFill>
                <a:latin typeface="Calibri"/>
              </a:rPr>
              <a:t>141 commit  ·  30 issue, 30 Pull Request  ·  kế hoạch công khai tại nhutruong-uit.github.io/ecms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457200" cy="274320"/>
          </a:xfrm>
          <a:prstGeom prst="roundRect">
            <a:avLst>
              <a:gd name="adj" fmla="val 23333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lang="vi-VN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872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6783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14839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62895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10951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259007" y="48463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lang="vi-VN" spc="120">
                <a:solidFill>
                  <a:srgbClr val="EF5A4F"/>
                </a:solidFill>
                <a:latin typeface="Calibri"/>
              </a:rPr>
              <a:t>KIỂM THỬ, DEMO,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lang="vi-VN">
                <a:solidFill>
                  <a:srgbClr val="14284B"/>
                </a:solidFill>
                <a:latin typeface="Calibri"/>
              </a:rPr>
              <a:t>Kết luận và hướng phát triển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ECMS · Hệ thống quản lý trung tâm tiếng Anh · Nhóm 1 · IE103.Q21.VB2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lang="vi-VN">
                <a:solidFill>
                  <a:srgbClr val="5B6577"/>
                </a:solidFill>
                <a:latin typeface="Calibri"/>
              </a:rPr>
              <a:t>Trình bày: </a:t>
            </a:r>
            <a:r>
              <a:rPr sz="1000" b="1" lang="vi-VN">
                <a:solidFill>
                  <a:srgbClr val="14284B"/>
                </a:solidFill>
                <a:latin typeface="Calibri"/>
              </a:rPr>
              <a:t>Trương Quang Như</a:t>
            </a:r>
            <a:r>
              <a:rPr sz="1000" b="0" lang="vi-VN">
                <a:solidFill>
                  <a:srgbClr val="5B6577"/>
                </a:solidFill>
                <a:latin typeface="Calibri"/>
              </a:rPr>
              <a:t>   ·   16 /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00200"/>
            <a:ext cx="11094415" cy="777240"/>
          </a:xfrm>
          <a:prstGeom prst="roundRect">
            <a:avLst>
              <a:gd name="adj" fmla="val 14117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1760220"/>
            <a:ext cx="457200" cy="457200"/>
          </a:xfrm>
          <a:prstGeom prst="ellipse">
            <a:avLst/>
          </a:prstGeom>
          <a:solidFill>
            <a:srgbClr val="EF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860804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17320" y="1600200"/>
            <a:ext cx="999713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lang="vi-VN">
                <a:solidFill>
                  <a:srgbClr val="FFFFFF"/>
                </a:solidFill>
                <a:latin typeface="Calibri"/>
              </a:rPr>
              <a:t>Luật nghiệp vụ nằm trong CSDL nên </a:t>
            </a:r>
            <a:r>
              <a:rPr sz="1600" b="1" lang="vi-VN">
                <a:solidFill>
                  <a:srgbClr val="FFB4AE"/>
                </a:solidFill>
                <a:latin typeface="Calibri"/>
              </a:rPr>
              <a:t>không thể bị bỏ qua</a:t>
            </a:r>
            <a:r>
              <a:rPr sz="1600" b="0" lang="vi-VN">
                <a:solidFill>
                  <a:srgbClr val="FFFFFF"/>
                </a:solidFill>
                <a:latin typeface="Calibri"/>
              </a:rPr>
              <a:t> – dù từ giao diện hay từ bất kỳ ứng dụng nào kết nối vào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60604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ircle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3522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2788920"/>
            <a:ext cx="232653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Đạt được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3593592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520440"/>
            <a:ext cx="2738018" cy="251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Đáp ứng đủ 22 yêu cầu chức năng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" y="3963924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890772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Đủ 5 giai đoạn: Thu thập → tổ chức → chuyển đổi → trình bày → an toàn</a:t>
            </a:r>
          </a:p>
        </p:txBody>
      </p:sp>
      <p:sp>
        <p:nvSpPr>
          <p:cNvPr id="25" name="Oval 24"/>
          <p:cNvSpPr/>
          <p:nvPr/>
        </p:nvSpPr>
        <p:spPr>
          <a:xfrm>
            <a:off x="841248" y="4539996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466844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114 ca kiểm thử SQL, 125 ca kiểm thử giao diện đều đạt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" y="5116068"/>
            <a:ext cx="91440" cy="91440"/>
          </a:xfrm>
          <a:prstGeom prst="ellipse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42916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Dựng lại từ CSDL trống bằng một lệnh, có CI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8218" y="260604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12538" y="2834640"/>
            <a:ext cx="457200" cy="45720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riangle-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122" y="2935224"/>
            <a:ext cx="2560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252618" y="2788920"/>
            <a:ext cx="232653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Hạn chế</a:t>
            </a:r>
          </a:p>
        </p:txBody>
      </p:sp>
      <p:sp>
        <p:nvSpPr>
          <p:cNvPr id="33" name="Oval 32"/>
          <p:cNvSpPr/>
          <p:nvPr/>
        </p:nvSpPr>
        <p:spPr>
          <a:xfrm>
            <a:off x="4630826" y="3593592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1138" y="3520440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Chưa kiểm thử tải nhiều người dùng đồng thời</a:t>
            </a:r>
          </a:p>
        </p:txBody>
      </p:sp>
      <p:sp>
        <p:nvSpPr>
          <p:cNvPr id="35" name="Oval 34"/>
          <p:cNvSpPr/>
          <p:nvPr/>
        </p:nvSpPr>
        <p:spPr>
          <a:xfrm>
            <a:off x="4630826" y="4169664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1138" y="4096512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Streamlit tải lại cả trang, chưa tối ưu điện thoại</a:t>
            </a:r>
          </a:p>
        </p:txBody>
      </p:sp>
      <p:sp>
        <p:nvSpPr>
          <p:cNvPr id="37" name="Oval 36"/>
          <p:cNvSpPr/>
          <p:nvPr/>
        </p:nvSpPr>
        <p:spPr>
          <a:xfrm>
            <a:off x="4630826" y="4745736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1138" y="4672584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Phân tán phần lớn mô phỏng trên một máy</a:t>
            </a:r>
          </a:p>
        </p:txBody>
      </p:sp>
      <p:sp>
        <p:nvSpPr>
          <p:cNvPr id="39" name="Oval 38"/>
          <p:cNvSpPr/>
          <p:nvPr/>
        </p:nvSpPr>
        <p:spPr>
          <a:xfrm>
            <a:off x="4630826" y="5321808"/>
            <a:ext cx="91440" cy="91440"/>
          </a:xfrm>
          <a:prstGeom prst="ellipse">
            <a:avLst/>
          </a:prstGeom>
          <a:solidFill>
            <a:srgbClr val="D48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1138" y="5248656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TDE, Audit, ledger mới chạy thử trên CSDL demo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7797" y="260604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146304" dist="27432" dir="5400000" algn="t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02117" y="2834640"/>
            <a:ext cx="457200" cy="45720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2701" y="2935224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042197" y="2788920"/>
            <a:ext cx="232653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lang="vi-VN">
                <a:solidFill>
                  <a:srgbClr val="1E293B"/>
                </a:solidFill>
                <a:latin typeface="Calibri"/>
              </a:rPr>
              <a:t>Hướng phát triển</a:t>
            </a:r>
          </a:p>
        </p:txBody>
      </p:sp>
      <p:sp>
        <p:nvSpPr>
          <p:cNvPr id="45" name="Oval 44"/>
          <p:cNvSpPr/>
          <p:nvPr/>
        </p:nvSpPr>
        <p:spPr>
          <a:xfrm>
            <a:off x="8420405" y="3593592"/>
            <a:ext cx="91440" cy="9144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30717" y="3520440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Cổng học viên, phụ huynh; thanh toán trực tuyến</a:t>
            </a:r>
          </a:p>
        </p:txBody>
      </p:sp>
      <p:sp>
        <p:nvSpPr>
          <p:cNvPr id="47" name="Oval 46"/>
          <p:cNvSpPr/>
          <p:nvPr/>
        </p:nvSpPr>
        <p:spPr>
          <a:xfrm>
            <a:off x="8420405" y="4169664"/>
            <a:ext cx="91440" cy="9144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0717" y="4096512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REST API, ứng dụng di động, giữ lớp procedure</a:t>
            </a:r>
          </a:p>
        </p:txBody>
      </p:sp>
      <p:sp>
        <p:nvSpPr>
          <p:cNvPr id="49" name="Oval 48"/>
          <p:cNvSpPr/>
          <p:nvPr/>
        </p:nvSpPr>
        <p:spPr>
          <a:xfrm>
            <a:off x="8420405" y="4745736"/>
            <a:ext cx="91440" cy="9144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30717" y="4672584"/>
            <a:ext cx="2738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Redis bộ nhớ đệm, MongoDB đồng bộ bằng CDC</a:t>
            </a:r>
          </a:p>
        </p:txBody>
      </p:sp>
      <p:sp>
        <p:nvSpPr>
          <p:cNvPr id="51" name="Oval 50"/>
          <p:cNvSpPr/>
          <p:nvPr/>
        </p:nvSpPr>
        <p:spPr>
          <a:xfrm>
            <a:off x="8420405" y="5321808"/>
            <a:ext cx="91440" cy="9144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30717" y="5248656"/>
            <a:ext cx="2738018" cy="251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lang="vi-VN">
                <a:solidFill>
                  <a:srgbClr val="1E293B"/>
                </a:solidFill>
                <a:latin typeface="Calibri"/>
              </a:rPr>
              <a:t>Kho dữ liệu, dự báo học viên bỏ học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7680960" y="0"/>
            <a:ext cx="4510735" cy="4663440"/>
          </a:xfrm>
          <a:custGeom>
            <a:avLst/>
            <a:gdLst/>
            <a:ahLst/>
            <a:cxnLst/>
            <a:rect l="l" t="t" r="r" b="b"/>
            <a:pathLst>
              <a:path w="4510735" h="4663440">
                <a:moveTo>
                  <a:pt x="4510735" y="0"/>
                </a:moveTo>
                <a:lnTo>
                  <a:pt x="4510735" y="4429354"/>
                </a:lnTo>
                <a:lnTo>
                  <a:pt x="4471530" y="4444797"/>
                </a:lnTo>
                <a:lnTo>
                  <a:pt x="4417716" y="4464918"/>
                </a:lnTo>
                <a:lnTo>
                  <a:pt x="4363558" y="4484096"/>
                </a:lnTo>
                <a:lnTo>
                  <a:pt x="4309075" y="4502326"/>
                </a:lnTo>
                <a:lnTo>
                  <a:pt x="4254281" y="4519602"/>
                </a:lnTo>
                <a:lnTo>
                  <a:pt x="4199194" y="4535920"/>
                </a:lnTo>
                <a:lnTo>
                  <a:pt x="4143831" y="4551273"/>
                </a:lnTo>
                <a:lnTo>
                  <a:pt x="4088208" y="4565658"/>
                </a:lnTo>
                <a:lnTo>
                  <a:pt x="4032343" y="4579070"/>
                </a:lnTo>
                <a:lnTo>
                  <a:pt x="3976252" y="4591505"/>
                </a:lnTo>
                <a:lnTo>
                  <a:pt x="3919953" y="4602960"/>
                </a:lnTo>
                <a:lnTo>
                  <a:pt x="3863462" y="4613430"/>
                </a:lnTo>
                <a:lnTo>
                  <a:pt x="3806797" y="4622912"/>
                </a:lnTo>
                <a:lnTo>
                  <a:pt x="3749976" y="4631404"/>
                </a:lnTo>
                <a:lnTo>
                  <a:pt x="3693014" y="4638903"/>
                </a:lnTo>
                <a:lnTo>
                  <a:pt x="3635931" y="4645407"/>
                </a:lnTo>
                <a:lnTo>
                  <a:pt x="3578743" y="4650914"/>
                </a:lnTo>
                <a:lnTo>
                  <a:pt x="3521467" y="4655421"/>
                </a:lnTo>
                <a:lnTo>
                  <a:pt x="3464122" y="4658929"/>
                </a:lnTo>
                <a:lnTo>
                  <a:pt x="3406724" y="4661435"/>
                </a:lnTo>
                <a:lnTo>
                  <a:pt x="3349291" y="4662939"/>
                </a:lnTo>
                <a:lnTo>
                  <a:pt x="3291840" y="4663440"/>
                </a:lnTo>
                <a:lnTo>
                  <a:pt x="3234389" y="4662939"/>
                </a:lnTo>
                <a:lnTo>
                  <a:pt x="3176956" y="4661435"/>
                </a:lnTo>
                <a:lnTo>
                  <a:pt x="3119558" y="4658929"/>
                </a:lnTo>
                <a:lnTo>
                  <a:pt x="3062213" y="4655421"/>
                </a:lnTo>
                <a:lnTo>
                  <a:pt x="3004937" y="4650914"/>
                </a:lnTo>
                <a:lnTo>
                  <a:pt x="2947749" y="4645407"/>
                </a:lnTo>
                <a:lnTo>
                  <a:pt x="2890666" y="4638903"/>
                </a:lnTo>
                <a:lnTo>
                  <a:pt x="2833704" y="4631404"/>
                </a:lnTo>
                <a:lnTo>
                  <a:pt x="2776883" y="4622912"/>
                </a:lnTo>
                <a:lnTo>
                  <a:pt x="2720218" y="4613430"/>
                </a:lnTo>
                <a:lnTo>
                  <a:pt x="2663727" y="4602960"/>
                </a:lnTo>
                <a:lnTo>
                  <a:pt x="2607428" y="4591505"/>
                </a:lnTo>
                <a:lnTo>
                  <a:pt x="2551337" y="4579070"/>
                </a:lnTo>
                <a:lnTo>
                  <a:pt x="2495472" y="4565658"/>
                </a:lnTo>
                <a:lnTo>
                  <a:pt x="2439849" y="4551273"/>
                </a:lnTo>
                <a:lnTo>
                  <a:pt x="2384486" y="4535920"/>
                </a:lnTo>
                <a:lnTo>
                  <a:pt x="2329399" y="4519602"/>
                </a:lnTo>
                <a:lnTo>
                  <a:pt x="2274605" y="4502326"/>
                </a:lnTo>
                <a:lnTo>
                  <a:pt x="2220122" y="4484096"/>
                </a:lnTo>
                <a:lnTo>
                  <a:pt x="2165964" y="4464918"/>
                </a:lnTo>
                <a:lnTo>
                  <a:pt x="2112150" y="4444797"/>
                </a:lnTo>
                <a:lnTo>
                  <a:pt x="2058695" y="4423741"/>
                </a:lnTo>
                <a:lnTo>
                  <a:pt x="2005616" y="4401755"/>
                </a:lnTo>
                <a:lnTo>
                  <a:pt x="1952928" y="4378845"/>
                </a:lnTo>
                <a:lnTo>
                  <a:pt x="1900648" y="4355020"/>
                </a:lnTo>
                <a:lnTo>
                  <a:pt x="1848792" y="4330286"/>
                </a:lnTo>
                <a:lnTo>
                  <a:pt x="1797376" y="4304651"/>
                </a:lnTo>
                <a:lnTo>
                  <a:pt x="1746415" y="4278122"/>
                </a:lnTo>
                <a:lnTo>
                  <a:pt x="1695924" y="4250708"/>
                </a:lnTo>
                <a:lnTo>
                  <a:pt x="1645920" y="4222417"/>
                </a:lnTo>
                <a:lnTo>
                  <a:pt x="1596417" y="4193258"/>
                </a:lnTo>
                <a:lnTo>
                  <a:pt x="1547431" y="4163239"/>
                </a:lnTo>
                <a:lnTo>
                  <a:pt x="1498975" y="4132369"/>
                </a:lnTo>
                <a:lnTo>
                  <a:pt x="1451066" y="4100659"/>
                </a:lnTo>
                <a:lnTo>
                  <a:pt x="1403718" y="4068117"/>
                </a:lnTo>
                <a:lnTo>
                  <a:pt x="1356945" y="4034755"/>
                </a:lnTo>
                <a:lnTo>
                  <a:pt x="1310761" y="4000580"/>
                </a:lnTo>
                <a:lnTo>
                  <a:pt x="1265181" y="3965605"/>
                </a:lnTo>
                <a:lnTo>
                  <a:pt x="1220218" y="3929840"/>
                </a:lnTo>
                <a:lnTo>
                  <a:pt x="1175886" y="3893296"/>
                </a:lnTo>
                <a:lnTo>
                  <a:pt x="1132199" y="3855983"/>
                </a:lnTo>
                <a:lnTo>
                  <a:pt x="1089169" y="3817914"/>
                </a:lnTo>
                <a:lnTo>
                  <a:pt x="1046811" y="3779099"/>
                </a:lnTo>
                <a:lnTo>
                  <a:pt x="1005136" y="3739552"/>
                </a:lnTo>
                <a:lnTo>
                  <a:pt x="964158" y="3699282"/>
                </a:lnTo>
                <a:lnTo>
                  <a:pt x="923888" y="3658304"/>
                </a:lnTo>
                <a:lnTo>
                  <a:pt x="884341" y="3616629"/>
                </a:lnTo>
                <a:lnTo>
                  <a:pt x="845526" y="3574271"/>
                </a:lnTo>
                <a:lnTo>
                  <a:pt x="807457" y="3531241"/>
                </a:lnTo>
                <a:lnTo>
                  <a:pt x="770144" y="3487554"/>
                </a:lnTo>
                <a:lnTo>
                  <a:pt x="733600" y="3443222"/>
                </a:lnTo>
                <a:lnTo>
                  <a:pt x="697835" y="3398259"/>
                </a:lnTo>
                <a:lnTo>
                  <a:pt x="662860" y="3352679"/>
                </a:lnTo>
                <a:lnTo>
                  <a:pt x="628685" y="3306495"/>
                </a:lnTo>
                <a:lnTo>
                  <a:pt x="595323" y="3259722"/>
                </a:lnTo>
                <a:lnTo>
                  <a:pt x="562781" y="3212374"/>
                </a:lnTo>
                <a:lnTo>
                  <a:pt x="531071" y="3164465"/>
                </a:lnTo>
                <a:lnTo>
                  <a:pt x="500201" y="3116009"/>
                </a:lnTo>
                <a:lnTo>
                  <a:pt x="470182" y="3067023"/>
                </a:lnTo>
                <a:lnTo>
                  <a:pt x="441023" y="3017520"/>
                </a:lnTo>
                <a:lnTo>
                  <a:pt x="412732" y="2967516"/>
                </a:lnTo>
                <a:lnTo>
                  <a:pt x="385318" y="2917025"/>
                </a:lnTo>
                <a:lnTo>
                  <a:pt x="358789" y="2866064"/>
                </a:lnTo>
                <a:lnTo>
                  <a:pt x="333154" y="2814648"/>
                </a:lnTo>
                <a:lnTo>
                  <a:pt x="308420" y="2762792"/>
                </a:lnTo>
                <a:lnTo>
                  <a:pt x="284595" y="2710512"/>
                </a:lnTo>
                <a:lnTo>
                  <a:pt x="261685" y="2657824"/>
                </a:lnTo>
                <a:lnTo>
                  <a:pt x="239699" y="2604745"/>
                </a:lnTo>
                <a:lnTo>
                  <a:pt x="218643" y="2551290"/>
                </a:lnTo>
                <a:lnTo>
                  <a:pt x="198522" y="2497476"/>
                </a:lnTo>
                <a:lnTo>
                  <a:pt x="179344" y="2443318"/>
                </a:lnTo>
                <a:lnTo>
                  <a:pt x="161114" y="2388835"/>
                </a:lnTo>
                <a:lnTo>
                  <a:pt x="143838" y="2334041"/>
                </a:lnTo>
                <a:lnTo>
                  <a:pt x="127520" y="2278954"/>
                </a:lnTo>
                <a:lnTo>
                  <a:pt x="112167" y="2223591"/>
                </a:lnTo>
                <a:lnTo>
                  <a:pt x="97782" y="2167968"/>
                </a:lnTo>
                <a:lnTo>
                  <a:pt x="84370" y="2112103"/>
                </a:lnTo>
                <a:lnTo>
                  <a:pt x="71935" y="2056012"/>
                </a:lnTo>
                <a:lnTo>
                  <a:pt x="60480" y="1999713"/>
                </a:lnTo>
                <a:lnTo>
                  <a:pt x="50010" y="1943222"/>
                </a:lnTo>
                <a:lnTo>
                  <a:pt x="40528" y="1886557"/>
                </a:lnTo>
                <a:lnTo>
                  <a:pt x="32036" y="1829736"/>
                </a:lnTo>
                <a:lnTo>
                  <a:pt x="24537" y="1772774"/>
                </a:lnTo>
                <a:lnTo>
                  <a:pt x="18033" y="1715691"/>
                </a:lnTo>
                <a:lnTo>
                  <a:pt x="12526" y="1658503"/>
                </a:lnTo>
                <a:lnTo>
                  <a:pt x="8019" y="1601227"/>
                </a:lnTo>
                <a:lnTo>
                  <a:pt x="4511" y="1543882"/>
                </a:lnTo>
                <a:lnTo>
                  <a:pt x="2005" y="1486484"/>
                </a:lnTo>
                <a:lnTo>
                  <a:pt x="501" y="1429051"/>
                </a:lnTo>
                <a:lnTo>
                  <a:pt x="0" y="1371600"/>
                </a:lnTo>
                <a:lnTo>
                  <a:pt x="501" y="1314149"/>
                </a:lnTo>
                <a:lnTo>
                  <a:pt x="2005" y="1256716"/>
                </a:lnTo>
                <a:lnTo>
                  <a:pt x="4511" y="1199318"/>
                </a:lnTo>
                <a:lnTo>
                  <a:pt x="8019" y="1141973"/>
                </a:lnTo>
                <a:lnTo>
                  <a:pt x="12526" y="1084697"/>
                </a:lnTo>
                <a:lnTo>
                  <a:pt x="18033" y="1027509"/>
                </a:lnTo>
                <a:lnTo>
                  <a:pt x="24537" y="970426"/>
                </a:lnTo>
                <a:lnTo>
                  <a:pt x="32036" y="913464"/>
                </a:lnTo>
                <a:lnTo>
                  <a:pt x="40528" y="856643"/>
                </a:lnTo>
                <a:lnTo>
                  <a:pt x="50010" y="799978"/>
                </a:lnTo>
                <a:lnTo>
                  <a:pt x="60480" y="743487"/>
                </a:lnTo>
                <a:lnTo>
                  <a:pt x="71935" y="687188"/>
                </a:lnTo>
                <a:lnTo>
                  <a:pt x="84370" y="631097"/>
                </a:lnTo>
                <a:lnTo>
                  <a:pt x="97782" y="575232"/>
                </a:lnTo>
                <a:lnTo>
                  <a:pt x="112167" y="519609"/>
                </a:lnTo>
                <a:lnTo>
                  <a:pt x="127520" y="464246"/>
                </a:lnTo>
                <a:lnTo>
                  <a:pt x="143838" y="409159"/>
                </a:lnTo>
                <a:lnTo>
                  <a:pt x="161114" y="354365"/>
                </a:lnTo>
                <a:lnTo>
                  <a:pt x="179344" y="299882"/>
                </a:lnTo>
                <a:lnTo>
                  <a:pt x="198522" y="245724"/>
                </a:lnTo>
                <a:lnTo>
                  <a:pt x="218643" y="191910"/>
                </a:lnTo>
                <a:lnTo>
                  <a:pt x="239699" y="138455"/>
                </a:lnTo>
                <a:lnTo>
                  <a:pt x="261685" y="85376"/>
                </a:lnTo>
                <a:lnTo>
                  <a:pt x="284595" y="32688"/>
                </a:lnTo>
                <a:lnTo>
                  <a:pt x="299491" y="0"/>
                </a:lnTo>
                <a:close/>
              </a:path>
            </a:pathLst>
          </a:custGeom>
          <a:solidFill>
            <a:srgbClr val="1A33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0241280" y="4846320"/>
            <a:ext cx="1950415" cy="2011680"/>
          </a:xfrm>
          <a:custGeom>
            <a:avLst/>
            <a:gdLst/>
            <a:ahLst/>
            <a:cxnLst/>
            <a:rect l="l" t="t" r="r" b="b"/>
            <a:pathLst>
              <a:path w="1950415" h="2011680">
                <a:moveTo>
                  <a:pt x="1950415" y="2011680"/>
                </a:moveTo>
                <a:lnTo>
                  <a:pt x="68779" y="2011680"/>
                </a:lnTo>
                <a:lnTo>
                  <a:pt x="67923" y="2008966"/>
                </a:lnTo>
                <a:lnTo>
                  <a:pt x="60218" y="1982953"/>
                </a:lnTo>
                <a:lnTo>
                  <a:pt x="52968" y="1956809"/>
                </a:lnTo>
                <a:lnTo>
                  <a:pt x="46175" y="1930543"/>
                </a:lnTo>
                <a:lnTo>
                  <a:pt x="39841" y="1904162"/>
                </a:lnTo>
                <a:lnTo>
                  <a:pt x="33969" y="1877675"/>
                </a:lnTo>
                <a:lnTo>
                  <a:pt x="28560" y="1851089"/>
                </a:lnTo>
                <a:lnTo>
                  <a:pt x="23616" y="1824413"/>
                </a:lnTo>
                <a:lnTo>
                  <a:pt x="19138" y="1797654"/>
                </a:lnTo>
                <a:lnTo>
                  <a:pt x="15128" y="1770822"/>
                </a:lnTo>
                <a:lnTo>
                  <a:pt x="11587" y="1743923"/>
                </a:lnTo>
                <a:lnTo>
                  <a:pt x="8516" y="1716967"/>
                </a:lnTo>
                <a:lnTo>
                  <a:pt x="5915" y="1689962"/>
                </a:lnTo>
                <a:lnTo>
                  <a:pt x="3787" y="1662915"/>
                </a:lnTo>
                <a:lnTo>
                  <a:pt x="2130" y="1635835"/>
                </a:lnTo>
                <a:lnTo>
                  <a:pt x="947" y="1608731"/>
                </a:lnTo>
                <a:lnTo>
                  <a:pt x="237" y="1581609"/>
                </a:lnTo>
                <a:lnTo>
                  <a:pt x="0" y="1554480"/>
                </a:lnTo>
                <a:lnTo>
                  <a:pt x="237" y="1527351"/>
                </a:lnTo>
                <a:lnTo>
                  <a:pt x="947" y="1500229"/>
                </a:lnTo>
                <a:lnTo>
                  <a:pt x="2130" y="1473125"/>
                </a:lnTo>
                <a:lnTo>
                  <a:pt x="3787" y="1446045"/>
                </a:lnTo>
                <a:lnTo>
                  <a:pt x="5915" y="1418998"/>
                </a:lnTo>
                <a:lnTo>
                  <a:pt x="8516" y="1391993"/>
                </a:lnTo>
                <a:lnTo>
                  <a:pt x="11587" y="1365037"/>
                </a:lnTo>
                <a:lnTo>
                  <a:pt x="15128" y="1338138"/>
                </a:lnTo>
                <a:lnTo>
                  <a:pt x="19138" y="1311306"/>
                </a:lnTo>
                <a:lnTo>
                  <a:pt x="23616" y="1284547"/>
                </a:lnTo>
                <a:lnTo>
                  <a:pt x="28560" y="1257871"/>
                </a:lnTo>
                <a:lnTo>
                  <a:pt x="33969" y="1231285"/>
                </a:lnTo>
                <a:lnTo>
                  <a:pt x="39841" y="1204798"/>
                </a:lnTo>
                <a:lnTo>
                  <a:pt x="46175" y="1178417"/>
                </a:lnTo>
                <a:lnTo>
                  <a:pt x="52968" y="1152151"/>
                </a:lnTo>
                <a:lnTo>
                  <a:pt x="60218" y="1126007"/>
                </a:lnTo>
                <a:lnTo>
                  <a:pt x="67923" y="1099994"/>
                </a:lnTo>
                <a:lnTo>
                  <a:pt x="76082" y="1074119"/>
                </a:lnTo>
                <a:lnTo>
                  <a:pt x="84690" y="1048391"/>
                </a:lnTo>
                <a:lnTo>
                  <a:pt x="93747" y="1022817"/>
                </a:lnTo>
                <a:lnTo>
                  <a:pt x="103248" y="997404"/>
                </a:lnTo>
                <a:lnTo>
                  <a:pt x="113191" y="972162"/>
                </a:lnTo>
                <a:lnTo>
                  <a:pt x="123574" y="947096"/>
                </a:lnTo>
                <a:lnTo>
                  <a:pt x="134392" y="922216"/>
                </a:lnTo>
                <a:lnTo>
                  <a:pt x="145643" y="897528"/>
                </a:lnTo>
                <a:lnTo>
                  <a:pt x="157323" y="873041"/>
                </a:lnTo>
                <a:lnTo>
                  <a:pt x="169428" y="848761"/>
                </a:lnTo>
                <a:lnTo>
                  <a:pt x="181956" y="824696"/>
                </a:lnTo>
                <a:lnTo>
                  <a:pt x="194901" y="800853"/>
                </a:lnTo>
                <a:lnTo>
                  <a:pt x="208261" y="777240"/>
                </a:lnTo>
                <a:lnTo>
                  <a:pt x="222031" y="753864"/>
                </a:lnTo>
                <a:lnTo>
                  <a:pt x="236206" y="730731"/>
                </a:lnTo>
                <a:lnTo>
                  <a:pt x="250783" y="707850"/>
                </a:lnTo>
                <a:lnTo>
                  <a:pt x="265758" y="685226"/>
                </a:lnTo>
                <a:lnTo>
                  <a:pt x="281125" y="662867"/>
                </a:lnTo>
                <a:lnTo>
                  <a:pt x="296879" y="640780"/>
                </a:lnTo>
                <a:lnTo>
                  <a:pt x="313017" y="618971"/>
                </a:lnTo>
                <a:lnTo>
                  <a:pt x="329533" y="597447"/>
                </a:lnTo>
                <a:lnTo>
                  <a:pt x="346422" y="576214"/>
                </a:lnTo>
                <a:lnTo>
                  <a:pt x="363679" y="555280"/>
                </a:lnTo>
                <a:lnTo>
                  <a:pt x="381299" y="534649"/>
                </a:lnTo>
                <a:lnTo>
                  <a:pt x="399276" y="514330"/>
                </a:lnTo>
                <a:lnTo>
                  <a:pt x="417605" y="494327"/>
                </a:lnTo>
                <a:lnTo>
                  <a:pt x="436281" y="474647"/>
                </a:lnTo>
                <a:lnTo>
                  <a:pt x="455297" y="455297"/>
                </a:lnTo>
                <a:lnTo>
                  <a:pt x="474647" y="436281"/>
                </a:lnTo>
                <a:lnTo>
                  <a:pt x="494327" y="417605"/>
                </a:lnTo>
                <a:lnTo>
                  <a:pt x="514330" y="399276"/>
                </a:lnTo>
                <a:lnTo>
                  <a:pt x="534649" y="381299"/>
                </a:lnTo>
                <a:lnTo>
                  <a:pt x="555280" y="363679"/>
                </a:lnTo>
                <a:lnTo>
                  <a:pt x="576214" y="346422"/>
                </a:lnTo>
                <a:lnTo>
                  <a:pt x="597447" y="329533"/>
                </a:lnTo>
                <a:lnTo>
                  <a:pt x="618971" y="313017"/>
                </a:lnTo>
                <a:lnTo>
                  <a:pt x="640780" y="296879"/>
                </a:lnTo>
                <a:lnTo>
                  <a:pt x="662867" y="281125"/>
                </a:lnTo>
                <a:lnTo>
                  <a:pt x="685226" y="265758"/>
                </a:lnTo>
                <a:lnTo>
                  <a:pt x="707850" y="250783"/>
                </a:lnTo>
                <a:lnTo>
                  <a:pt x="730731" y="236206"/>
                </a:lnTo>
                <a:lnTo>
                  <a:pt x="753864" y="222031"/>
                </a:lnTo>
                <a:lnTo>
                  <a:pt x="777240" y="208261"/>
                </a:lnTo>
                <a:lnTo>
                  <a:pt x="800853" y="194901"/>
                </a:lnTo>
                <a:lnTo>
                  <a:pt x="824696" y="181956"/>
                </a:lnTo>
                <a:lnTo>
                  <a:pt x="848761" y="169428"/>
                </a:lnTo>
                <a:lnTo>
                  <a:pt x="873041" y="157323"/>
                </a:lnTo>
                <a:lnTo>
                  <a:pt x="897528" y="145643"/>
                </a:lnTo>
                <a:lnTo>
                  <a:pt x="922216" y="134392"/>
                </a:lnTo>
                <a:lnTo>
                  <a:pt x="947096" y="123574"/>
                </a:lnTo>
                <a:lnTo>
                  <a:pt x="972162" y="113191"/>
                </a:lnTo>
                <a:lnTo>
                  <a:pt x="997404" y="103248"/>
                </a:lnTo>
                <a:lnTo>
                  <a:pt x="1022817" y="93747"/>
                </a:lnTo>
                <a:lnTo>
                  <a:pt x="1048391" y="84690"/>
                </a:lnTo>
                <a:lnTo>
                  <a:pt x="1074119" y="76082"/>
                </a:lnTo>
                <a:lnTo>
                  <a:pt x="1099994" y="67923"/>
                </a:lnTo>
                <a:lnTo>
                  <a:pt x="1126007" y="60218"/>
                </a:lnTo>
                <a:lnTo>
                  <a:pt x="1152151" y="52968"/>
                </a:lnTo>
                <a:lnTo>
                  <a:pt x="1178417" y="46175"/>
                </a:lnTo>
                <a:lnTo>
                  <a:pt x="1204798" y="39841"/>
                </a:lnTo>
                <a:lnTo>
                  <a:pt x="1231285" y="33969"/>
                </a:lnTo>
                <a:lnTo>
                  <a:pt x="1257871" y="28560"/>
                </a:lnTo>
                <a:lnTo>
                  <a:pt x="1284547" y="23616"/>
                </a:lnTo>
                <a:lnTo>
                  <a:pt x="1311306" y="19138"/>
                </a:lnTo>
                <a:lnTo>
                  <a:pt x="1338138" y="15128"/>
                </a:lnTo>
                <a:lnTo>
                  <a:pt x="1365037" y="11587"/>
                </a:lnTo>
                <a:lnTo>
                  <a:pt x="1391993" y="8516"/>
                </a:lnTo>
                <a:lnTo>
                  <a:pt x="1418998" y="5915"/>
                </a:lnTo>
                <a:lnTo>
                  <a:pt x="1446045" y="3787"/>
                </a:lnTo>
                <a:lnTo>
                  <a:pt x="1473125" y="2130"/>
                </a:lnTo>
                <a:lnTo>
                  <a:pt x="1500229" y="947"/>
                </a:lnTo>
                <a:lnTo>
                  <a:pt x="1527351" y="237"/>
                </a:lnTo>
                <a:lnTo>
                  <a:pt x="1554480" y="0"/>
                </a:lnTo>
                <a:lnTo>
                  <a:pt x="1581609" y="237"/>
                </a:lnTo>
                <a:lnTo>
                  <a:pt x="1608731" y="947"/>
                </a:lnTo>
                <a:lnTo>
                  <a:pt x="1635835" y="2130"/>
                </a:lnTo>
                <a:lnTo>
                  <a:pt x="1662915" y="3787"/>
                </a:lnTo>
                <a:lnTo>
                  <a:pt x="1689962" y="5915"/>
                </a:lnTo>
                <a:lnTo>
                  <a:pt x="1716967" y="8516"/>
                </a:lnTo>
                <a:lnTo>
                  <a:pt x="1743923" y="11587"/>
                </a:lnTo>
                <a:lnTo>
                  <a:pt x="1770822" y="15128"/>
                </a:lnTo>
                <a:lnTo>
                  <a:pt x="1797654" y="19138"/>
                </a:lnTo>
                <a:lnTo>
                  <a:pt x="1824413" y="23616"/>
                </a:lnTo>
                <a:lnTo>
                  <a:pt x="1851089" y="28560"/>
                </a:lnTo>
                <a:lnTo>
                  <a:pt x="1877675" y="33969"/>
                </a:lnTo>
                <a:lnTo>
                  <a:pt x="1904162" y="39841"/>
                </a:lnTo>
                <a:lnTo>
                  <a:pt x="1930543" y="46175"/>
                </a:lnTo>
                <a:lnTo>
                  <a:pt x="1950415" y="51314"/>
                </a:lnTo>
                <a:close/>
              </a:path>
            </a:pathLst>
          </a:custGeom>
          <a:solidFill>
            <a:srgbClr val="1A33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lang="vi-VN">
                <a:solidFill>
                  <a:srgbClr val="FFFFFF"/>
                </a:solidFill>
                <a:latin typeface="Calibri"/>
              </a:rPr>
              <a:t>Cảm ơn thầy và các bạn đã lắng nghe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vi-VN" spc="300">
                <a:solidFill>
                  <a:srgbClr val="EF5A4F"/>
                </a:solidFill>
                <a:latin typeface="Calibri"/>
              </a:rPr>
              <a:t>HỎI &amp; ĐÁP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93544" y="3794760"/>
            <a:ext cx="3565144" cy="566928"/>
          </a:xfrm>
          <a:prstGeom prst="roundRect">
            <a:avLst>
              <a:gd name="adj" fmla="val 50000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4984" y="3872484"/>
            <a:ext cx="411480" cy="41148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509" y="3963010"/>
            <a:ext cx="230429" cy="2304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33624" y="3794760"/>
            <a:ext cx="287934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lang="vi-VN">
                <a:solidFill>
                  <a:srgbClr val="FFFFFF"/>
                </a:solidFill>
                <a:latin typeface="Calibri"/>
              </a:rPr>
              <a:t>github.com/nhutruong-uit/ecms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8" y="3794760"/>
            <a:ext cx="3335528" cy="566928"/>
          </a:xfrm>
          <a:prstGeom prst="roundRect">
            <a:avLst>
              <a:gd name="adj" fmla="val 50000"/>
            </a:avLst>
          </a:prstGeom>
          <a:solidFill>
            <a:srgbClr val="1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24448" y="3872484"/>
            <a:ext cx="411480" cy="411480"/>
          </a:xfrm>
          <a:prstGeom prst="ellipse">
            <a:avLst/>
          </a:prstGeom>
          <a:solidFill>
            <a:srgbClr val="2F5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973" y="3963010"/>
            <a:ext cx="230429" cy="2304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3088" y="3794760"/>
            <a:ext cx="2649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lang="vi-VN">
                <a:solidFill>
                  <a:srgbClr val="FFFFFF"/>
                </a:solidFill>
                <a:latin typeface="Calibri"/>
              </a:rPr>
              <a:t>nhutruong-uit.github.io/ecms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lang="vi-VN">
                <a:solidFill>
                  <a:srgbClr val="8FA3C7"/>
                </a:solidFill>
                <a:latin typeface="Calibri"/>
              </a:rPr>
              <a:t>Nhóm 1 · IE103.Q21.VB2 · Giảng viên hướng dẫn: TS. Võ Phương Bình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