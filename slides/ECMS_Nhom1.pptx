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 – giới thiệu nhóm, đề tài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Giới thiệu bố cục 6 phần và người phụ trách từng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Nhấn mạnh 3 chi nhánh dùng Excel rời rạc → mục tiêu tập trung hoá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22 yêu cầu chức năng, 8 phi chức năng; 5 tác nhân.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Trâm. Giải thích thực thể yếu (PHONGHOC, BUOIHOC), chuyên biệt hoá NHANVIEN–GIAOVIEN, liên kết 3 ngôi LICHHOC.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Trâm. Sơ đồ sinh từ metadata sau khi chạy 01_schema.sql.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Dương. Chọn 1–2 truy vấn tiêu biểu để chạy trực tiếp (Q18, Q24).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 · Giang. Như: xác thực, phân quyền. Giang: view, sao lưu – phục hồi. Dương: nhập / xuất.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Phú. Demo sp_DangKyHoc báo lỗi 'Lớp đã đủ sĩ số' và trigger cập nhật sĩ số.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Đăng nhập 2 vai trò khác nhau để thấy menu thay đổi.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Demo lập phiếu thu 2 khoản, in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Mở PDF doanh thu: Report/Page/Group header-footer, Trang X / 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 · Phú · Dương. Trâm: hướng đối tượng · Phú: phân tán · Dương: NoSQL.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Chạy lại toàn bộ từ CSDL trống trong khoảng 35 giây.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Cả nhóm. Chuẩn bị sẵn 5 tab trình duyệt đã đăng nhập 5 vai trò.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Số liệu commit từ scripts/thong_ke_dong_gop.py.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phản biện đã chuẩn bị: vì sao đặt luật nghiệp vụ trong CSDL; vì sao chọn SQL Server thay vì MongoDB; RLS bằng SESSION_CONTEXT có an toàn khi dùng chung login; khi nào nên dùng cursor; RPO/RTO đạt được bao nhiêu.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432000"/>
            <a:ext cx="11112119" cy="599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648000"/>
            <a:ext cx="784509" cy="93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32000" y="684000"/>
            <a:ext cx="8640000" cy="936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ĐẠI HỌC QUỐC GIA TP. HỒ CHÍ MINH</a:t>
            </a:r>
          </a:p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TRƯỜNG ĐẠI HỌC CÔNG NGHỆ THÔNG TIN</a:t>
            </a:r>
          </a:p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KHOA KHOA HỌC VÀ KỸ THUẬT THÔNG 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944000"/>
            <a:ext cx="10392119" cy="432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Times New Roman"/>
              </a:rPr>
              <a:t>ĐỒ ÁN MÔN HỌC IE103 – QUẢN LÝ THÔNG TIN · LỚP IE103.Q21.VB2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412000"/>
            <a:ext cx="10392119" cy="140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HỆ THỐNG QUẢN LÝ</a:t>
            </a:r>
          </a:p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TRUNG TÂM TIẾNG ANH (ECMS)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88000"/>
            <a:ext cx="10392119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Giảng viên hướng dẫn: TS. Võ Phương Bình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00000" y="4356000"/>
          <a:ext cx="6840000" cy="155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/>
                <a:gridCol w="4320000"/>
                <a:gridCol w="1800000"/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STT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Họ và tên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MSSV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Đỗ Phạm Minh Trâm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25540042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Trương Quang Như (nhóm trưởng)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25540022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Việt Phú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25540025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Đỗ Bình Dương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25540008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Bảo Giang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25540009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Nội dung trình bày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52000" y="1224000"/>
          <a:ext cx="9888117" cy="3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934"/>
                <a:gridCol w="5426406"/>
                <a:gridCol w="2411736"/>
                <a:gridCol w="1447041"/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Phần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Nội dung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Trình bày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Thời lượng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Tổng quan – bài toán, khảo sát, yêu cầu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Như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Tổ chức thông tin – ERD, Class Diagram, lược đồ quan hệ, cài đặt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Trâm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Xử lý thông tin – truy vấn, XML, an ninh, lập trình CSDL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Dương · Như · Giang · Phú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Trình bày thông tin – menu, form, báo cáo, dashboard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Giang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Mô hình CSDL tiên tiến – hướng đối tượng, phân tán, NoSQL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Trâm · Phú · Dương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thử, demo, kết luận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Như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 phút + demo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1. Bài toán và hiện trạng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Đối tượng: </a:t>
            </a:r>
            <a:r>
              <a:rPr sz="1900">
                <a:latin typeface="Times New Roman"/>
              </a:rPr>
              <a:t>chuỗi 3 chi nhánh trung tâm tiếng Anh tại TP.HCM, 4 chương trình (IELTS, TOEIC, Giao tiếp, Thiếu nhi)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Nghiệp vụ: </a:t>
            </a:r>
            <a:r>
              <a:rPr sz="1900">
                <a:latin typeface="Times New Roman"/>
              </a:rPr>
              <a:t>tư vấn → kiểm tra đầu vào → ghi danh → thu học phí → học &amp; điểm danh → thi → báo cáo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Hiện trạng: </a:t>
            </a:r>
            <a:r>
              <a:rPr sz="1900">
                <a:latin typeface="Times New Roman"/>
              </a:rPr>
              <a:t>mỗi chi nhánh một file Excel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Trùng lặp, sai lệch thông tin học viên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Không kiểm soát sĩ số, trùng phòng, khoá tiên quyết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Báo cáo doanh thu tổng hợp thủ công 1–2 ngày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Không phân quyền, không sao lưu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Mục tiêu: </a:t>
            </a:r>
            <a:r>
              <a:rPr sz="1900">
                <a:latin typeface="Times New Roman"/>
              </a:rPr>
              <a:t>CSDL tập trung + ứng dụng web theo vai trò, ràng buộc nghiệp vụ đặt tại CSDL</a:t>
            </a:r>
          </a:p>
        </p:txBody>
      </p:sp>
      <p:pic>
        <p:nvPicPr>
          <p:cNvPr id="9" name="Picture 8" descr="quy-trinh-nghiep-v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000" y="3204935"/>
            <a:ext cx="5472000" cy="952130"/>
          </a:xfrm>
          <a:prstGeom prst="rect">
            <a:avLst/>
          </a:prstGeom>
          <a:ln>
            <a:solidFill>
              <a:srgbClr val="BFBF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1. Đặc tả yêu cầu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5399999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617"/>
                <a:gridCol w="3906382"/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Chức năng chính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Danh mục, tài khoản, nhật ký, dashboard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Khoá học, mở lớp, xếp lịch, ghi danh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Kế toán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Phiếu thu, công nợ, lương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viên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Điểm danh, nhập điểm, cảnh báo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Học viên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Lịch học, điểm, học phí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9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22 yêu cầu chức năng (FR01–FR22): </a:t>
            </a:r>
            <a:r>
              <a:rPr sz="1800">
                <a:latin typeface="Times New Roman"/>
              </a:rPr>
              <a:t>từ đăng nhập, danh mục đến sao lưu và nhập / xuất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8 yêu cầu phi chức năng: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Toàn vẹn – giao dịch, ràng buộc tại CSDL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Bảo mật – quyền tối thiểu, ẩn lương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Truy vết – nhật ký thay đổi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Sẵn sàng – RPO 15 phút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Tiếng Việt, dễ dùng, tái lập bằng 1 lệnh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Ánh xạ DIKW: </a:t>
            </a:r>
            <a:r>
              <a:rPr sz="1800">
                <a:latin typeface="Times New Roman"/>
              </a:rPr>
              <a:t>điểm danh → chuyên cần → cảnh báo bỏ học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2. Tổ chức thông tin – ERD và Class Diagram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5</a:t>
            </a:r>
          </a:p>
        </p:txBody>
      </p:sp>
      <p:pic>
        <p:nvPicPr>
          <p:cNvPr id="8" name="Picture 7" descr="e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750" y="1044000"/>
            <a:ext cx="4782500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32000" y="1044000"/>
            <a:ext cx="4176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17 tập thực thể: </a:t>
            </a:r>
            <a:r>
              <a:rPr sz="1800">
                <a:latin typeface="Times New Roman"/>
              </a:rPr>
              <a:t>2 thực thể yếu, 1 chuyên biệt hoá, 1 liên kết 3 ngôi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Đủ loại thuộc tính: </a:t>
            </a:r>
            <a:r>
              <a:rPr sz="1800">
                <a:latin typeface="Times New Roman"/>
              </a:rPr>
              <a:t>khoá, phức hợp, đa trị, suy diễn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Class Diagram UML: </a:t>
            </a:r>
            <a:r>
              <a:rPr sz="1800">
                <a:latin typeface="Times New Roman"/>
              </a:rPr>
              <a:t>kế thừa, kết hợp, thành phần, phụ thuộc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So sánh ERD ↔ Class Diagram trên cùng bài toán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2. Lược đồ quan hệ và cài đặt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6</a:t>
            </a:r>
          </a:p>
        </p:txBody>
      </p:sp>
      <p:pic>
        <p:nvPicPr>
          <p:cNvPr id="8" name="Picture 7" descr="db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4626" y="1044000"/>
            <a:ext cx="3474747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32000" y="1044000"/>
            <a:ext cx="4176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22 bảng, 32 khoá ngoại, 22 chỉ mục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Chuẩn hoá: </a:t>
            </a:r>
            <a:r>
              <a:rPr sz="1800">
                <a:latin typeface="Times New Roman"/>
              </a:rPr>
              <a:t>17/22 quan hệ đạt BCNF, phần còn lại có lý do giữ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RBTV: </a:t>
            </a:r>
            <a:r>
              <a:rPr sz="1800">
                <a:latin typeface="Times New Roman"/>
              </a:rPr>
              <a:t>CHECK, UNIQUE, FK, computed column PERSISTED, trigger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So sánh mô hình phẳng – quan hệ – XML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Dữ liệu mẫu ~350 học viên, 25 lớp, ~500 phiếu thu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Xử lý thông tin – Truy vấn SQL và XML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Dương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5759999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365"/>
                <a:gridCol w="3512195"/>
                <a:gridCol w="702439"/>
              </a:tblGrid>
              <a:tr h="413999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Nhóm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Kỹ thuật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Số câu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Cơ bản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LIKE, BETWEEN, TOP … WITH TIES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Kết nối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INNER/LEFT/RIGHT/FULL JOIN, self-join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Gom nhóm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GROUP BY, HAVING, ROLLUP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Lồng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IN, NOT EXISTS, tương quan, ALL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Tập hợp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UNION, INTERSECT, EXCEPT, phép chia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Nâng cao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CTE đệ quy, hàm cửa sổ, PIVOT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80000" y="1044000"/>
            <a:ext cx="5328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31 truy vấn trả lời câu hỏi quản lý thực tế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XML: </a:t>
            </a:r>
            <a:r>
              <a:rPr sz="1800">
                <a:latin typeface="Times New Roman"/>
              </a:rPr>
              <a:t>kết quả kiểm tra đầu vào lưu cột XML có XML Schema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query(), value(), exist(), nodes(), modify()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FOR XML / OPENXML, điểm ngoài 0–10 bị từ chối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Đo hiệu năng trước / sau khi thêm chỉ mục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An ninh dữ liệu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 ·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76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Xác thực: </a:t>
            </a:r>
            <a:r>
              <a:rPr sz="1800">
                <a:latin typeface="Times New Roman"/>
              </a:rPr>
              <a:t>login SQL theo vai trò; tài khoản ứng dụng băm SHA2_256 + salt, khoá sau 5 lần sai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Phân quyền: </a:t>
            </a:r>
            <a:r>
              <a:rPr sz="1800">
                <a:latin typeface="Times New Roman"/>
              </a:rPr>
              <a:t>5 role, ứng dụng dùng login ecms_app bị DENY trên mọi bảng – chỉ EXECUTE procedure, SELECT view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Row-level: </a:t>
            </a:r>
            <a:r>
              <a:rPr sz="1800">
                <a:latin typeface="Times New Roman"/>
              </a:rPr>
              <a:t>SESSION_CONTEXT lọc dữ liệu theo chi nhánh; ẩn lương với vai trò không liên quan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36 ca kiểm thử phân quyền đều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8000" y="1044000"/>
            <a:ext cx="540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View: </a:t>
            </a:r>
            <a:r>
              <a:rPr sz="1800">
                <a:latin typeface="Times New Roman"/>
              </a:rPr>
              <a:t>27 view – bảo mật, báo cáo, indexed view doanh thu, WITH CHECK OPTION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Sao lưu: </a:t>
            </a:r>
            <a:r>
              <a:rPr sz="1800">
                <a:latin typeface="Times New Roman"/>
              </a:rPr>
              <a:t>FULL tuần, DIFF ngày, LOG 15 phút → RPO 15 phút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Phục hồi theo thời điểm (STOPAT) ra CSDL song song để đối chiếu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Nhập / xuất: </a:t>
            </a:r>
            <a:r>
              <a:rPr sz="1800">
                <a:latin typeface="Times New Roman"/>
              </a:rPr>
              <a:t>BULK INSERT, bcp, FOR JSON / XML, pandas – kiểm tra và báo dòng lỗi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Lập trình CSDL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Phú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6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079"/>
                <a:gridCol w="999539"/>
                <a:gridCol w="6663599"/>
                <a:gridCol w="1665899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Đối tượng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Số lượng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Ví dụ tiêu biểu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Kiểm thử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Stored procedure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sp_DangKyHoc, sp_ThuHocPhi (JSON master–detail, SAVE TRANSACTION)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Function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fn_GoiYKhoaHoc, fn_BangDiemLop (inline / multi-statement TVF)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Trigger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sĩ số, tổng tiền phiếu thu, chặn trùng phòng, nhật ký JSON, INSTEAD OF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17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Cursor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sinh buổi học bỏ qua ngày lễ, tính lương, cảnh báo chuyên cần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so sánh set-based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000" y="4068000"/>
            <a:ext cx="11328119" cy="108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800" b="0">
                <a:solidFill>
                  <a:srgbClr val="595959"/>
                </a:solidFill>
                <a:latin typeface="Times New Roman"/>
              </a:rPr>
              <a:t>Lỗi nghiệp vụ trả về bằng THROW 500xx với thông báo tiếng Việt → giao diện hiển thị nguyên văn.</a:t>
            </a:r>
          </a:p>
          <a:p>
            <a:pPr algn="l"/>
            <a:r>
              <a:rPr sz="1800" b="0">
                <a:solidFill>
                  <a:srgbClr val="595959"/>
                </a:solidFill>
                <a:latin typeface="Times New Roman"/>
              </a:rPr>
              <a:t>Mọi nghiệp vụ nhiều bước chạy trong transaction lồng được; trigger viết set-based.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Trình bày thông tin – Menu và Form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10</a:t>
            </a:r>
          </a:p>
        </p:txBody>
      </p:sp>
      <p:pic>
        <p:nvPicPr>
          <p:cNvPr id="8" name="Picture 7" descr="menu-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192" y="1044000"/>
            <a:ext cx="2283616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02_trang_ch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5200" y="1044000"/>
            <a:ext cx="4089600" cy="255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10" name="Picture 9" descr="04_kiem_tra_nhap_lieu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6000" y="1062000"/>
            <a:ext cx="4031999" cy="2519999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528000" y="3780000"/>
            <a:ext cx="828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Menu rộng &amp; nông: </a:t>
            </a:r>
            <a:r>
              <a:rPr sz="1800">
                <a:latin typeface="Times New Roman"/>
              </a:rPr>
              <a:t>2 cấp, 8 nhóm theo nghiệp vụ, ẩn theo vai trò, chặn cả truy cập bằng URL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Form: </a:t>
            </a:r>
            <a:r>
              <a:rPr sz="1800">
                <a:latin typeface="Times New Roman"/>
              </a:rPr>
              <a:t>control theo kiểu dữ liệu, giá trị mặc định, lỗi hiện ngay dưới ô nhập + kiểm tra lần 2 tại CSDL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Ánh xạ mỗi form ↔ view / procedure / trigger – giao diện không truy cập bảng gốc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Form master–detail và nhập liệu hàng loạt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11</a:t>
            </a:r>
          </a:p>
        </p:txBody>
      </p:sp>
      <p:pic>
        <p:nvPicPr>
          <p:cNvPr id="8" name="Picture 7" descr="14_phieu_th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" y="1053000"/>
            <a:ext cx="5616000" cy="3510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11_diem_dan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2000" y="1053000"/>
            <a:ext cx="5616000" cy="3510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2000" y="4680000"/>
            <a:ext cx="5616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Phiếu thu: 1 phiếu – nhiều đăng ký, thu một phần, lưu 1 giao dịch (sp_ThuHocPhi)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2000" y="4680000"/>
            <a:ext cx="5616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Điểm danh / nhập điểm: lưới sửa trực tiếp, lưu cả lớp một lần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Báo cáo và Dashboard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12</a:t>
            </a:r>
          </a:p>
        </p:txBody>
      </p:sp>
      <p:pic>
        <p:nvPicPr>
          <p:cNvPr id="8" name="Picture 7" descr="16_dashbo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00" y="1044000"/>
            <a:ext cx="6105600" cy="381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20_pdf_doanh_th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000" y="1899182"/>
            <a:ext cx="2520000" cy="3563636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9324000" y="1044000"/>
            <a:ext cx="252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600" b="1">
                <a:solidFill>
                  <a:srgbClr val="1F3864"/>
                </a:solidFill>
                <a:latin typeface="Times New Roman"/>
              </a:rPr>
              <a:t>9 báo cáo: </a:t>
            </a:r>
            <a:r>
              <a:rPr sz="1600">
                <a:latin typeface="Times New Roman"/>
              </a:rPr>
              <a:t>định kỳ, theo yêu cầu, tổng hợp, biểu mẫu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600">
                <a:latin typeface="Times New Roman"/>
              </a:rPr>
              <a:t>PDF + Excel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600">
                <a:latin typeface="Times New Roman"/>
              </a:rPr>
              <a:t>Dashboard 6 KPI so kỳ trước, đọc từ indexed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4968000"/>
            <a:ext cx="6120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595959"/>
                </a:solidFill>
                <a:latin typeface="Times New Roman"/>
              </a:rPr>
              <a:t>Dashboard – tầng Knowledge trong DIKW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5. Mô hình CSDL tiên tiến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 · Phú · Dương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6" cy="3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296"/>
                <a:gridCol w="1973838"/>
                <a:gridCol w="1973838"/>
                <a:gridCol w="2574572"/>
                <a:gridCol w="2574572"/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Tiêu chí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Quan hệ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Hướng đối tượng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Phân tán (theo chi nhánh)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NoSQL (MongoDB)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Mô hình hoá ECMS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Tốt, tách bảng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Tự nhiên nhất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Như quan hệ + phân mảnh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Tự nhiên cho hồ sơ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Toàn vẹn &amp; giao dịch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Mạnh nhất (ACID)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Trong phương thức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ACID cục bộ, 2PC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Yếu, không FK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Báo cáo thống kê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Mạnh nhất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Yếu (N+1)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Tốt nếu cục bộ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Khá (aggregation)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Đọc 1 hồ sơ trọn vẹn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Nhiều JOIN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Duyệt đối tượng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Như quan hệ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Nhanh nhất – 1 document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Mở rộng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Ngang theo chi nhánh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Ngang (sharding)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Demo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ODL + mapper Python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trạm + partitioned view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collection, 6 cặp truy vấn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000" y="4500000"/>
            <a:ext cx="11328119" cy="72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Times New Roman"/>
              </a:rPr>
              <a:t>Kết luận: quan hệ tập trung là lựa chọn chính; phân tán khi mở rộng nhiều tỉnh; NoSQL làm kho phụ (polyglot persistence).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6. Kiểm thử tích hợp và CI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6120000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2000"/>
                <a:gridCol w="2448000"/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Bước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Kết quả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Dựng CSDL 01 → 09 từ CSDL trống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10 giây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tra dữ liệu mẫu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 kiểm tra, 0 lỗi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Procedure / trigger / phân quyền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 / 17 / 36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31 truy vấn nghiệp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chạy hết, không lỗi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Smoke test mọi trang × 5 vai trò + mọi báo cáo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52 passed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3999" y="1044000"/>
            <a:ext cx="4824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GitHub Actions: </a:t>
            </a:r>
            <a:r>
              <a:rPr sz="1800">
                <a:latin typeface="Times New Roman"/>
              </a:rPr>
              <a:t>SQL Server 2022 (Docker) → run_all → test SQL → pytest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Bắt buộc xanh trước khi merge develop → main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Quy trình nhóm: </a:t>
            </a:r>
            <a:r>
              <a:rPr sz="1800">
                <a:latin typeface="Times New Roman"/>
              </a:rPr>
              <a:t>29 task = 29 issue = 29 PR vào develop, review bởi nhóm trưởng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Phát hành v1.0.0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Kịch bản demo (≈ 5 phút)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Cả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7" cy="34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526"/>
                <a:gridCol w="1576086"/>
                <a:gridCol w="4925269"/>
                <a:gridCol w="4334236"/>
              </a:tblGrid>
              <a:tr h="486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#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Thao tác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Điểm nhấn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Mở lớp → xếp lịch → sinh buổi học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Chặn trùng phòng, bỏ qua ngày lễ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tra đầu vào → ghi danh (thử lớp đầy)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XML Schema, lỗi 'Lớp đã đủ sĩ số'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Kế toán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Lập phiếu thu 2 khoản → in PDF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Master–detail, số tiền bằng chữ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viên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Điểm danh → nhập điểm → quét cảnh báo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Trigger tính kết quả, cursor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Học viên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Xem lịch tuần, điểm, học phí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Chỉ thấy dữ liệu của mình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Dashboard → nhật ký hệ thống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Ai đã thao tác gì, lúc nào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Phân công và đóng góp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7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250"/>
                <a:gridCol w="2183733"/>
                <a:gridCol w="6141751"/>
                <a:gridCol w="955383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Thành viên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Task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Phụ trách chính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Đóng góp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Trương Quang Như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T01–T03, T15, T19, T29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 dự án, Chương 1, môi trường, phân quyền, khung web, CI, tổng hợp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Đỗ Phạm Minh Trâm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T04–T07, T20, T25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ERD, Class Diagram, lược đồ, DDL, trang Đào tạo, CSDL hướng đối tượng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Đỗ Bình Dương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T08–T10, T18, T21, T27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Dữ liệu mẫu, truy vấn, XML, nhập / xuất, trang Học viên, NoSQL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Việt Phú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T11–T14, T22, T26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Procedure, function, trigger, cursor, trang Học tập, CSDL phân tán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Bảo Giang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T16, T17, T23, T24, T28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View, sao lưu, trang Tài chính, báo cáo &amp; dashboard, Chương 4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Kết luận và hướng phát triển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Đạt được: </a:t>
            </a:r>
            <a:r>
              <a:rPr sz="1900">
                <a:latin typeface="Times New Roman"/>
              </a:rPr>
              <a:t>đủ 22 yêu cầu chức năng, đi qua đủ quy trình QLTT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Thu thập → Tổ chức → Xử lý → Trình bày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Luật nghiệp vụ nằm trong CSDL, không thể bị bỏ qua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Tái lập từ đầu bằng một lệnh, CI tự động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Hạn chế: </a:t>
            </a:r>
            <a:r>
              <a:rPr sz="1900">
                <a:latin typeface="Times New Roman"/>
              </a:rPr>
              <a:t>dữ liệu nhỏ, giao diện chưa tối ưu di động, phân tán mới mô phỏng trên 1 máy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000" y="1044000"/>
            <a:ext cx="5472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>
                <a:latin typeface="Times New Roman"/>
              </a:rPr>
              <a:t>Hướng phát triển: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Cổng học viên / phụ huynh, thanh toán online, thông báo vắng học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REST API + frontend di động, giữ lớp procedure / view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Redis cache, MongoDB đồng bộ CDC cho cổng học viên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Kho dữ liệu và dự báo học viên bỏ học (tầng Wisdom)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60000"/>
            <a:ext cx="12192119" cy="108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Times New Roman"/>
              </a:rPr>
              <a:t>CẢM ƠN THẦY VÀ CÁC BẠN ĐÃ LẮNG NGHE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20000"/>
            <a:ext cx="12192119" cy="72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Times New Roman"/>
              </a:rPr>
              <a:t>Hỏi &amp; đáp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60000"/>
            <a:ext cx="12192119" cy="54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Times New Roman"/>
              </a:rPr>
              <a:t>github.com/nhutruong-uit/ecms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