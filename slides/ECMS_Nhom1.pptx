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Người trình bày: Như – giới thiệu nhóm, đề tài (30 giây).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Người trình bày: Như. Giới thiệu bố cục 6 phần và người phụ trách từng phần.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Người trình bày: Như. Nhấn mạnh 3 chi nhánh dùng Excel rời rạc → mục tiêu tập trung hoá dữ liệu.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Người trình bày: Như. 22 yêu cầu chức năng, 8 phi chức năng; 5 tác nhân.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Người trình bày: Trâm. Giải thích thực thể yếu (PHONGHOC, BUOIHOC), chuyên biệt hoá NHANVIEN–GIAOVIEN, liên kết 3 ngôi LICHHOC.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Người trình bày: Trâm. Sơ đồ sinh từ metadata sau khi chạy 01_schema.sql.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Người trình bày: Dương. Chọn 1–2 truy vấn tiêu biểu để chạy trực tiếp (Q18, Q24).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Người trình bày: Như · Giang. Như: xác thực, phân quyền. Giang: view, sao lưu – phục hồi. Dương: nhập / xuất.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Người trình bày: Phú. Demo sp_DangKyHoc báo lỗi 'Lớp đã đủ sĩ số' và trigger cập nhật sĩ số.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Người trình bày: Giang. Đăng nhập 2 vai trò khác nhau để thấy menu thay đổi.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Người trình bày: Giang. Demo lập phiếu thu 2 khoản, in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Người trình bày: Giang. Mở PDF doanh thu: Report/Page/Group header-footer, Trang X / 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Người trình bày: Trâm · Phú · Dương. Trâm: hướng đối tượng · Phú: phân tán · Dương: NoSQL.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Người trình bày: Như. Chạy lại toàn bộ từ CSDL trống trong khoảng 35 giây.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Người trình bày: Cả nhóm. Chuẩn bị sẵn 5 tab trình duyệt đã đăng nhập 5 vai trò.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Người trình bày: Như. Số liệu commit từ scripts/thong_ke_dong_gop.py.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Người trình bày: Như.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hỏi phản biện đã chuẩn bị: vì sao đặt luật nghiệp vụ trong CSDL; vì sao chọn SQL Server thay vì MongoDB; RLS bằng SESSION_CONTEXT có an toàn khi dùng chung login; khi nào nên dùng cursor; RPO/RTO đạt được bao nhiêu.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5.png"/><Relationship Id="rId5" Type="http://schemas.openxmlformats.org/officeDocument/2006/relationships/image" Target="../media/image6.jpg"/><Relationship Id="rId6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10.jpg"/><Relationship Id="rId5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432000"/>
            <a:ext cx="11112119" cy="59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00" y="648000"/>
            <a:ext cx="784509" cy="93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32000" y="684000"/>
            <a:ext cx="8640000" cy="936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Times New Roman"/>
              </a:rPr>
              <a:t>ĐẠI HỌC QUỐC GIA TP. HỒ CHÍ MINH</a:t>
            </a:r>
          </a:p>
          <a:p>
            <a:pPr algn="l"/>
            <a:r>
              <a:rPr sz="1500" b="1">
                <a:solidFill>
                  <a:srgbClr val="1F3864"/>
                </a:solidFill>
                <a:latin typeface="Times New Roman"/>
              </a:rPr>
              <a:t>TRƯỜNG ĐẠI HỌC CÔNG NGHỆ THÔNG TIN</a:t>
            </a:r>
          </a:p>
          <a:p>
            <a:pPr algn="l"/>
            <a:r>
              <a:rPr sz="1500" b="1">
                <a:solidFill>
                  <a:srgbClr val="1F3864"/>
                </a:solidFill>
                <a:latin typeface="Times New Roman"/>
              </a:rPr>
              <a:t>KHOA KHOA HỌC VÀ KỸ THUẬT THÔNG 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44000"/>
            <a:ext cx="10392119" cy="432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Times New Roman"/>
              </a:rPr>
              <a:t>ĐỒ ÁN MÔN HỌC IE103 – QUẢN LÝ THÔNG TIN · LỚP IE103.Q21.VB2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412000"/>
            <a:ext cx="10392119" cy="1404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ctr"/>
            <a:r>
              <a:rPr sz="3600" b="1">
                <a:solidFill>
                  <a:srgbClr val="1F3864"/>
                </a:solidFill>
                <a:latin typeface="Times New Roman"/>
              </a:rPr>
              <a:t>HỆ THỐNG QUẢN LÝ</a:t>
            </a:r>
          </a:p>
          <a:p>
            <a:pPr algn="ctr"/>
            <a:r>
              <a:rPr sz="3600" b="1">
                <a:solidFill>
                  <a:srgbClr val="1F3864"/>
                </a:solidFill>
                <a:latin typeface="Times New Roman"/>
              </a:rPr>
              <a:t>TRUNG TÂM TIẾNG ANH (ECMS)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888000"/>
            <a:ext cx="10392119" cy="360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Giảng viên hướng dẫn: TS. Võ Phương Bình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00000" y="4356000"/>
          <a:ext cx="6840000" cy="155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/>
                <a:gridCol w="4320000"/>
                <a:gridCol w="1800000"/>
              </a:tblGrid>
              <a:tr h="259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STT</a:t>
                      </a:r>
                    </a:p>
                  </a:txBody>
                  <a:tcPr marL="54000" marR="540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Họ và tên</a:t>
                      </a:r>
                    </a:p>
                  </a:txBody>
                  <a:tcPr marL="54000" marR="540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MSSV</a:t>
                      </a:r>
                    </a:p>
                  </a:txBody>
                  <a:tcPr marL="54000" marR="54000">
                    <a:solidFill>
                      <a:srgbClr val="1F3864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Đỗ Phạm Minh Trâm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25540042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Trương Quang Như (nhóm trưởng)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25540022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Nguyễn Việt Phú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25540025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Đỗ Bình Dương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25540008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Nguyễn Bảo Giang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25540009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90000"/>
            <a:ext cx="10392119" cy="648000"/>
          </a:xfrm>
          <a:prstGeom prst="rect">
            <a:avLst/>
          </a:prstGeom>
          <a:noFill/>
        </p:spPr>
        <p:txBody>
          <a:bodyPr wrap="square" anchor="ctr" lIns="72000" rIns="720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Nội dung trình bày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19" y="72000"/>
            <a:ext cx="573295" cy="684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0000" y="6444001"/>
            <a:ext cx="11472119" cy="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480000"/>
            <a:ext cx="7920000" cy="288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Times New Roman"/>
              </a:rPr>
              <a:t>IE103 – Nhóm 1 · ECMS · Trình bày: Như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2119" y="6480000"/>
            <a:ext cx="1080000" cy="288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Times New Roman"/>
              </a:rPr>
              <a:t>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152000" y="1224000"/>
          <a:ext cx="9888117" cy="31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934"/>
                <a:gridCol w="5426406"/>
                <a:gridCol w="2411736"/>
                <a:gridCol w="1447041"/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Times New Roman"/>
                        </a:rPr>
                        <a:t>Phần</a:t>
                      </a:r>
                    </a:p>
                  </a:txBody>
                  <a:tcPr marL="54000" marR="540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Times New Roman"/>
                        </a:rPr>
                        <a:t>Nội dung</a:t>
                      </a:r>
                    </a:p>
                  </a:txBody>
                  <a:tcPr marL="54000" marR="540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Times New Roman"/>
                        </a:rPr>
                        <a:t>Trình bày</a:t>
                      </a:r>
                    </a:p>
                  </a:txBody>
                  <a:tcPr marL="54000" marR="540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Times New Roman"/>
                        </a:rPr>
                        <a:t>Thời lượng</a:t>
                      </a:r>
                    </a:p>
                  </a:txBody>
                  <a:tcPr marL="54000" marR="54000">
                    <a:solidFill>
                      <a:srgbClr val="1F3864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Tổng quan – bài toán, khảo sát, yêu cầu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Như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2 phút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Tổ chức thông tin – ERD, Class Diagram, lược đồ quan hệ, cài đặt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Trâm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3 phút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Xử lý thông tin – truy vấn, XML, an ninh, lập trình CSDL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Dương · Như · Giang · Phú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5 phút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Trình bày thông tin – menu, form, báo cáo, dashboard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Giang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3 phút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Mô hình CSDL tiên tiến – hướng đối tượng, phân tán, NoSQL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Trâm · Phú · Dương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3 phút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Kiểm thử, demo, kết luận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Như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2 phút + demo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90000"/>
            <a:ext cx="10392119" cy="648000"/>
          </a:xfrm>
          <a:prstGeom prst="rect">
            <a:avLst/>
          </a:prstGeom>
          <a:noFill/>
        </p:spPr>
        <p:txBody>
          <a:bodyPr wrap="square" anchor="ctr" lIns="72000" rIns="720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1. Bài toán và hiện trạng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19" y="72000"/>
            <a:ext cx="573295" cy="684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0000" y="6444001"/>
            <a:ext cx="11472119" cy="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480000"/>
            <a:ext cx="7920000" cy="288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Times New Roman"/>
              </a:rPr>
              <a:t>IE103 – Nhóm 1 · ECMS · Trình bày: Như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2119" y="6480000"/>
            <a:ext cx="1080000" cy="288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Times New Roman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44000"/>
            <a:ext cx="5580000" cy="52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900" b="1">
                <a:solidFill>
                  <a:srgbClr val="1F3864"/>
                </a:solidFill>
                <a:latin typeface="Times New Roman"/>
              </a:rPr>
              <a:t>Đối tượng: </a:t>
            </a:r>
            <a:r>
              <a:rPr sz="1900">
                <a:latin typeface="Times New Roman"/>
              </a:rPr>
              <a:t>chuỗi 3 chi nhánh trung tâm tiếng Anh tại TP.HCM, 4 chương trình (IELTS, TOEIC, Giao tiếp, Thiếu nhi)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900" b="1">
                <a:solidFill>
                  <a:srgbClr val="1F3864"/>
                </a:solidFill>
                <a:latin typeface="Times New Roman"/>
              </a:rPr>
              <a:t>Nghiệp vụ: </a:t>
            </a:r>
            <a:r>
              <a:rPr sz="1900">
                <a:latin typeface="Times New Roman"/>
              </a:rPr>
              <a:t>tư vấn → kiểm tra đầu vào → ghi danh → thu học phí → học &amp; điểm danh → thi → báo cáo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900" b="1">
                <a:solidFill>
                  <a:srgbClr val="1F3864"/>
                </a:solidFill>
                <a:latin typeface="Times New Roman"/>
              </a:rPr>
              <a:t>Hiện trạng: </a:t>
            </a:r>
            <a:r>
              <a:rPr sz="1900">
                <a:latin typeface="Times New Roman"/>
              </a:rPr>
              <a:t>mỗi chi nhánh một file Excel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E75B6"/>
                </a:solidFill>
                <a:latin typeface="Times New Roman"/>
              </a:rPr>
              <a:t>      –  </a:t>
            </a:r>
            <a:r>
              <a:rPr sz="1700">
                <a:latin typeface="Times New Roman"/>
              </a:rPr>
              <a:t>Trùng lặp, sai lệch thông tin học viên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E75B6"/>
                </a:solidFill>
                <a:latin typeface="Times New Roman"/>
              </a:rPr>
              <a:t>      –  </a:t>
            </a:r>
            <a:r>
              <a:rPr sz="1700">
                <a:latin typeface="Times New Roman"/>
              </a:rPr>
              <a:t>Không kiểm soát sĩ số, trùng phòng, khoá tiên quyết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E75B6"/>
                </a:solidFill>
                <a:latin typeface="Times New Roman"/>
              </a:rPr>
              <a:t>      –  </a:t>
            </a:r>
            <a:r>
              <a:rPr sz="1700">
                <a:latin typeface="Times New Roman"/>
              </a:rPr>
              <a:t>Báo cáo doanh thu tổng hợp thủ công 1–2 ngày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E75B6"/>
                </a:solidFill>
                <a:latin typeface="Times New Roman"/>
              </a:rPr>
              <a:t>      –  </a:t>
            </a:r>
            <a:r>
              <a:rPr sz="1700">
                <a:latin typeface="Times New Roman"/>
              </a:rPr>
              <a:t>Không phân quyền, không sao lưu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900" b="1">
                <a:solidFill>
                  <a:srgbClr val="1F3864"/>
                </a:solidFill>
                <a:latin typeface="Times New Roman"/>
              </a:rPr>
              <a:t>Mục tiêu: </a:t>
            </a:r>
            <a:r>
              <a:rPr sz="1900">
                <a:latin typeface="Times New Roman"/>
              </a:rPr>
              <a:t>CSDL tập trung + ứng dụng web theo vai trò, ràng buộc nghiệp vụ đặt tại CSDL</a:t>
            </a:r>
          </a:p>
        </p:txBody>
      </p:sp>
      <p:pic>
        <p:nvPicPr>
          <p:cNvPr id="9" name="Picture 8" descr="quy-trinh-nghiep-v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000" y="3204935"/>
            <a:ext cx="5472000" cy="952130"/>
          </a:xfrm>
          <a:prstGeom prst="rect">
            <a:avLst/>
          </a:prstGeom>
          <a:ln>
            <a:solidFill>
              <a:srgbClr val="BFBFBF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90000"/>
            <a:ext cx="10392119" cy="648000"/>
          </a:xfrm>
          <a:prstGeom prst="rect">
            <a:avLst/>
          </a:prstGeom>
          <a:noFill/>
        </p:spPr>
        <p:txBody>
          <a:bodyPr wrap="square" anchor="ctr" lIns="72000" rIns="720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1. Đặc tả yêu cầu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19" y="72000"/>
            <a:ext cx="573295" cy="684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0000" y="6444001"/>
            <a:ext cx="11472119" cy="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480000"/>
            <a:ext cx="7920000" cy="288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Times New Roman"/>
              </a:rPr>
              <a:t>IE103 – Nhóm 1 · ECMS · Trình bày: Như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2119" y="6480000"/>
            <a:ext cx="1080000" cy="288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Times New Roman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2000" y="1116000"/>
          <a:ext cx="5399999" cy="28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617"/>
                <a:gridCol w="3906382"/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Vai trò</a:t>
                      </a:r>
                    </a:p>
                  </a:txBody>
                  <a:tcPr marL="54000" marR="540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Chức năng chính</a:t>
                      </a:r>
                    </a:p>
                  </a:txBody>
                  <a:tcPr marL="54000" marR="54000">
                    <a:solidFill>
                      <a:srgbClr val="1F3864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Quản lý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Danh mục, tài khoản, nhật ký, dashboard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Giáo vụ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Khoá học, mở lớp, xếp lịch, ghi danh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Kế toán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Phiếu thu, công nợ, lương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Giáo viên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Điểm danh, nhập điểm, cảnh báo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Học viên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Lịch học, điểm, học phí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92000" y="1044000"/>
            <a:ext cx="5580000" cy="52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800" b="1">
                <a:solidFill>
                  <a:srgbClr val="1F3864"/>
                </a:solidFill>
                <a:latin typeface="Times New Roman"/>
              </a:rPr>
              <a:t>22 yêu cầu chức năng (FR01–FR22): </a:t>
            </a:r>
            <a:r>
              <a:rPr sz="1800">
                <a:latin typeface="Times New Roman"/>
              </a:rPr>
              <a:t>từ đăng nhập, danh mục đến sao lưu và nhập / xuất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800">
                <a:latin typeface="Times New Roman"/>
              </a:rPr>
              <a:t>8 yêu cầu phi chức năng: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E75B6"/>
                </a:solidFill>
                <a:latin typeface="Times New Roman"/>
              </a:rPr>
              <a:t>      –  </a:t>
            </a:r>
            <a:r>
              <a:rPr sz="1600">
                <a:latin typeface="Times New Roman"/>
              </a:rPr>
              <a:t>Toàn vẹn – giao dịch, ràng buộc tại CSDL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E75B6"/>
                </a:solidFill>
                <a:latin typeface="Times New Roman"/>
              </a:rPr>
              <a:t>      –  </a:t>
            </a:r>
            <a:r>
              <a:rPr sz="1600">
                <a:latin typeface="Times New Roman"/>
              </a:rPr>
              <a:t>Bảo mật – quyền tối thiểu, ẩn lương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E75B6"/>
                </a:solidFill>
                <a:latin typeface="Times New Roman"/>
              </a:rPr>
              <a:t>      –  </a:t>
            </a:r>
            <a:r>
              <a:rPr sz="1600">
                <a:latin typeface="Times New Roman"/>
              </a:rPr>
              <a:t>Truy vết – nhật ký thay đổi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E75B6"/>
                </a:solidFill>
                <a:latin typeface="Times New Roman"/>
              </a:rPr>
              <a:t>      –  </a:t>
            </a:r>
            <a:r>
              <a:rPr sz="1600">
                <a:latin typeface="Times New Roman"/>
              </a:rPr>
              <a:t>Sẵn sàng – RPO 15 phút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E75B6"/>
                </a:solidFill>
                <a:latin typeface="Times New Roman"/>
              </a:rPr>
              <a:t>      –  </a:t>
            </a:r>
            <a:r>
              <a:rPr sz="1600">
                <a:latin typeface="Times New Roman"/>
              </a:rPr>
              <a:t>Tiếng Việt, dễ dùng, tái lập bằng 1 lệnh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800" b="1">
                <a:solidFill>
                  <a:srgbClr val="1F3864"/>
                </a:solidFill>
                <a:latin typeface="Times New Roman"/>
              </a:rPr>
              <a:t>Ánh xạ DIKW: </a:t>
            </a:r>
            <a:r>
              <a:rPr sz="1800">
                <a:latin typeface="Times New Roman"/>
              </a:rPr>
              <a:t>điểm danh → chuyên cần → cảnh báo bỏ học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90000"/>
            <a:ext cx="10392119" cy="648000"/>
          </a:xfrm>
          <a:prstGeom prst="rect">
            <a:avLst/>
          </a:prstGeom>
          <a:noFill/>
        </p:spPr>
        <p:txBody>
          <a:bodyPr wrap="square" anchor="ctr" lIns="72000" rIns="720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2. Tổ chức thông tin – ERD và Class Diagram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19" y="72000"/>
            <a:ext cx="573295" cy="684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0000" y="6444001"/>
            <a:ext cx="11472119" cy="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480000"/>
            <a:ext cx="7920000" cy="288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Times New Roman"/>
              </a:rPr>
              <a:t>IE103 – Nhóm 1 · ECMS · Trình bày: Trâm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2119" y="6480000"/>
            <a:ext cx="1080000" cy="288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Times New Roman"/>
              </a:rPr>
              <a:t>5</a:t>
            </a:r>
          </a:p>
        </p:txBody>
      </p:sp>
      <p:pic>
        <p:nvPicPr>
          <p:cNvPr id="8" name="Picture 7" descr="e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0750" y="1044000"/>
            <a:ext cx="4782500" cy="5274000"/>
          </a:xfrm>
          <a:prstGeom prst="rect">
            <a:avLst/>
          </a:prstGeom>
          <a:ln>
            <a:solidFill>
              <a:srgbClr val="BFBFB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632000" y="1044000"/>
            <a:ext cx="4176000" cy="52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800" b="1">
                <a:solidFill>
                  <a:srgbClr val="1F3864"/>
                </a:solidFill>
                <a:latin typeface="Times New Roman"/>
              </a:rPr>
              <a:t>17 tập thực thể: </a:t>
            </a:r>
            <a:r>
              <a:rPr sz="1800">
                <a:latin typeface="Times New Roman"/>
              </a:rPr>
              <a:t>2 thực thể yếu, 1 chuyên biệt hoá, 1 liên kết 3 ngôi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800" b="1">
                <a:solidFill>
                  <a:srgbClr val="1F3864"/>
                </a:solidFill>
                <a:latin typeface="Times New Roman"/>
              </a:rPr>
              <a:t>Đủ loại thuộc tính: </a:t>
            </a:r>
            <a:r>
              <a:rPr sz="1800">
                <a:latin typeface="Times New Roman"/>
              </a:rPr>
              <a:t>khoá, phức hợp, đa trị, suy diễn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800" b="1">
                <a:solidFill>
                  <a:srgbClr val="1F3864"/>
                </a:solidFill>
                <a:latin typeface="Times New Roman"/>
              </a:rPr>
              <a:t>Class Diagram UML: </a:t>
            </a:r>
            <a:r>
              <a:rPr sz="1800">
                <a:latin typeface="Times New Roman"/>
              </a:rPr>
              <a:t>kế thừa, kết hợp, thành phần, phụ thuộc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800">
                <a:latin typeface="Times New Roman"/>
              </a:rPr>
              <a:t>So sánh ERD ↔ Class Diagram trên cùng bài toán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90000"/>
            <a:ext cx="10392119" cy="648000"/>
          </a:xfrm>
          <a:prstGeom prst="rect">
            <a:avLst/>
          </a:prstGeom>
          <a:noFill/>
        </p:spPr>
        <p:txBody>
          <a:bodyPr wrap="square" anchor="ctr" lIns="72000" rIns="720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2. Lược đồ quan hệ và cài đặt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19" y="72000"/>
            <a:ext cx="573295" cy="684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0000" y="6444001"/>
            <a:ext cx="11472119" cy="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480000"/>
            <a:ext cx="7920000" cy="288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Times New Roman"/>
              </a:rPr>
              <a:t>IE103 – Nhóm 1 · ECMS · Trình bày: Trâm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2119" y="6480000"/>
            <a:ext cx="1080000" cy="288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Times New Roman"/>
              </a:rPr>
              <a:t>6</a:t>
            </a:r>
          </a:p>
        </p:txBody>
      </p:sp>
      <p:pic>
        <p:nvPicPr>
          <p:cNvPr id="8" name="Picture 7" descr="db-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4626" y="1044000"/>
            <a:ext cx="3474747" cy="5274000"/>
          </a:xfrm>
          <a:prstGeom prst="rect">
            <a:avLst/>
          </a:prstGeom>
          <a:ln>
            <a:solidFill>
              <a:srgbClr val="BFBFB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632000" y="1044000"/>
            <a:ext cx="4176000" cy="52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800">
                <a:latin typeface="Times New Roman"/>
              </a:rPr>
              <a:t>22 bảng, 32 khoá ngoại, 22 chỉ mục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800" b="1">
                <a:solidFill>
                  <a:srgbClr val="1F3864"/>
                </a:solidFill>
                <a:latin typeface="Times New Roman"/>
              </a:rPr>
              <a:t>Chuẩn hoá: </a:t>
            </a:r>
            <a:r>
              <a:rPr sz="1800">
                <a:latin typeface="Times New Roman"/>
              </a:rPr>
              <a:t>17/22 quan hệ đạt BCNF, phần còn lại có lý do giữ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800" b="1">
                <a:solidFill>
                  <a:srgbClr val="1F3864"/>
                </a:solidFill>
                <a:latin typeface="Times New Roman"/>
              </a:rPr>
              <a:t>RBTV: </a:t>
            </a:r>
            <a:r>
              <a:rPr sz="1800">
                <a:latin typeface="Times New Roman"/>
              </a:rPr>
              <a:t>CHECK, UNIQUE, FK, computed column PERSISTED, trigger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800">
                <a:latin typeface="Times New Roman"/>
              </a:rPr>
              <a:t>So sánh mô hình phẳng – quan hệ – XML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800">
                <a:latin typeface="Times New Roman"/>
              </a:rPr>
              <a:t>Dữ liệu mẫu ~350 học viên, 25 lớp, ~500 phiếu thu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90000"/>
            <a:ext cx="10392119" cy="648000"/>
          </a:xfrm>
          <a:prstGeom prst="rect">
            <a:avLst/>
          </a:prstGeom>
          <a:noFill/>
        </p:spPr>
        <p:txBody>
          <a:bodyPr wrap="square" anchor="ctr" lIns="72000" rIns="720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3. Xử lý thông tin – Truy vấn SQL và XML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19" y="72000"/>
            <a:ext cx="573295" cy="684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0000" y="6444001"/>
            <a:ext cx="11472119" cy="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480000"/>
            <a:ext cx="7920000" cy="288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Times New Roman"/>
              </a:rPr>
              <a:t>IE103 – Nhóm 1 · ECMS · Trình bày: Dương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2119" y="6480000"/>
            <a:ext cx="1080000" cy="288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Times New Roman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2000" y="1116000"/>
          <a:ext cx="5759999" cy="2897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5365"/>
                <a:gridCol w="3512195"/>
                <a:gridCol w="702439"/>
              </a:tblGrid>
              <a:tr h="413999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Nhóm</a:t>
                      </a:r>
                    </a:p>
                  </a:txBody>
                  <a:tcPr marL="54000" marR="540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Kỹ thuật</a:t>
                      </a:r>
                    </a:p>
                  </a:txBody>
                  <a:tcPr marL="54000" marR="540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Số câu</a:t>
                      </a:r>
                    </a:p>
                  </a:txBody>
                  <a:tcPr marL="54000" marR="54000">
                    <a:solidFill>
                      <a:srgbClr val="1F3864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Cơ bản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LIKE, BETWEEN, TOP … WITH TIES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Kết nối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INNER/LEFT/RIGHT/FULL JOIN, self-join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Gom nhóm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GROUP BY, HAVING, ROLLUP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Lồng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IN, NOT EXISTS, tương quan, ALL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Tập hợp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UNION, INTERSECT, EXCEPT, phép chia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Nâng cao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CTE đệ quy, hàm cửa sổ, PIVOT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80000" y="1044000"/>
            <a:ext cx="5328000" cy="52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800">
                <a:latin typeface="Times New Roman"/>
              </a:rPr>
              <a:t>31 truy vấn trả lời câu hỏi quản lý thực tế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800" b="1">
                <a:solidFill>
                  <a:srgbClr val="1F3864"/>
                </a:solidFill>
                <a:latin typeface="Times New Roman"/>
              </a:rPr>
              <a:t>XML: </a:t>
            </a:r>
            <a:r>
              <a:rPr sz="1800">
                <a:latin typeface="Times New Roman"/>
              </a:rPr>
              <a:t>kết quả kiểm tra đầu vào lưu cột XML có XML Schema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E75B6"/>
                </a:solidFill>
                <a:latin typeface="Times New Roman"/>
              </a:rPr>
              <a:t>      –  </a:t>
            </a:r>
            <a:r>
              <a:rPr sz="1600">
                <a:latin typeface="Times New Roman"/>
              </a:rPr>
              <a:t>query(), value(), exist(), nodes(), modify()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E75B6"/>
                </a:solidFill>
                <a:latin typeface="Times New Roman"/>
              </a:rPr>
              <a:t>      –  </a:t>
            </a:r>
            <a:r>
              <a:rPr sz="1600">
                <a:latin typeface="Times New Roman"/>
              </a:rPr>
              <a:t>FOR XML / OPENXML, điểm ngoài 0–10 bị từ chối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800">
                <a:latin typeface="Times New Roman"/>
              </a:rPr>
              <a:t>Đo hiệu năng trước / sau khi thêm chỉ mục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90000"/>
            <a:ext cx="10392119" cy="648000"/>
          </a:xfrm>
          <a:prstGeom prst="rect">
            <a:avLst/>
          </a:prstGeom>
          <a:noFill/>
        </p:spPr>
        <p:txBody>
          <a:bodyPr wrap="square" anchor="ctr" lIns="72000" rIns="720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3. An ninh dữ liệu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19" y="72000"/>
            <a:ext cx="573295" cy="684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0000" y="6444001"/>
            <a:ext cx="11472119" cy="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480000"/>
            <a:ext cx="7920000" cy="288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Times New Roman"/>
              </a:rPr>
              <a:t>IE103 – Nhóm 1 · ECMS · Trình bày: Như · Giang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2119" y="6480000"/>
            <a:ext cx="1080000" cy="288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Times New Roman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44000"/>
            <a:ext cx="5760000" cy="52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800" b="1">
                <a:solidFill>
                  <a:srgbClr val="1F3864"/>
                </a:solidFill>
                <a:latin typeface="Times New Roman"/>
              </a:rPr>
              <a:t>Xác thực: </a:t>
            </a:r>
            <a:r>
              <a:rPr sz="1800">
                <a:latin typeface="Times New Roman"/>
              </a:rPr>
              <a:t>login SQL theo vai trò; tài khoản ứng dụng băm SHA2_256 + salt, khoá sau 5 lần sai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800" b="1">
                <a:solidFill>
                  <a:srgbClr val="1F3864"/>
                </a:solidFill>
                <a:latin typeface="Times New Roman"/>
              </a:rPr>
              <a:t>Phân quyền: </a:t>
            </a:r>
            <a:r>
              <a:rPr sz="1800">
                <a:latin typeface="Times New Roman"/>
              </a:rPr>
              <a:t>5 role, ứng dụng dùng login ecms_app bị DENY trên mọi bảng – chỉ EXECUTE procedure, SELECT view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800" b="1">
                <a:solidFill>
                  <a:srgbClr val="1F3864"/>
                </a:solidFill>
                <a:latin typeface="Times New Roman"/>
              </a:rPr>
              <a:t>Row-level: </a:t>
            </a:r>
            <a:r>
              <a:rPr sz="1800">
                <a:latin typeface="Times New Roman"/>
              </a:rPr>
              <a:t>SESSION_CONTEXT lọc dữ liệu theo chi nhánh; ẩn lương với vai trò không liên quan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800">
                <a:latin typeface="Times New Roman"/>
              </a:rPr>
              <a:t>36 ca kiểm thử phân quyền đều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8000" y="1044000"/>
            <a:ext cx="5400000" cy="52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800" b="1">
                <a:solidFill>
                  <a:srgbClr val="1F3864"/>
                </a:solidFill>
                <a:latin typeface="Times New Roman"/>
              </a:rPr>
              <a:t>View: </a:t>
            </a:r>
            <a:r>
              <a:rPr sz="1800">
                <a:latin typeface="Times New Roman"/>
              </a:rPr>
              <a:t>27 view – bảo mật, báo cáo, indexed view doanh thu, WITH CHECK OPTION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800" b="1">
                <a:solidFill>
                  <a:srgbClr val="1F3864"/>
                </a:solidFill>
                <a:latin typeface="Times New Roman"/>
              </a:rPr>
              <a:t>Sao lưu: </a:t>
            </a:r>
            <a:r>
              <a:rPr sz="1800">
                <a:latin typeface="Times New Roman"/>
              </a:rPr>
              <a:t>FULL tuần, DIFF ngày, LOG 15 phút → RPO 15 phút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800">
                <a:latin typeface="Times New Roman"/>
              </a:rPr>
              <a:t>Phục hồi theo thời điểm (STOPAT) ra CSDL song song để đối chiếu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800" b="1">
                <a:solidFill>
                  <a:srgbClr val="1F3864"/>
                </a:solidFill>
                <a:latin typeface="Times New Roman"/>
              </a:rPr>
              <a:t>Nhập / xuất: </a:t>
            </a:r>
            <a:r>
              <a:rPr sz="1800">
                <a:latin typeface="Times New Roman"/>
              </a:rPr>
              <a:t>BULK INSERT, bcp, FOR JSON / XML, pandas – kiểm tra và báo dòng lỗi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90000"/>
            <a:ext cx="10392119" cy="648000"/>
          </a:xfrm>
          <a:prstGeom prst="rect">
            <a:avLst/>
          </a:prstGeom>
          <a:noFill/>
        </p:spPr>
        <p:txBody>
          <a:bodyPr wrap="square" anchor="ctr" lIns="72000" rIns="720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3. Lập trình CSDL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19" y="72000"/>
            <a:ext cx="573295" cy="684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0000" y="6444001"/>
            <a:ext cx="11472119" cy="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480000"/>
            <a:ext cx="7920000" cy="288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Times New Roman"/>
              </a:rPr>
              <a:t>IE103 – Nhóm 1 · ECMS · Trình bày: Phú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2119" y="6480000"/>
            <a:ext cx="1080000" cy="288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Times New Roman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2000" y="1116000"/>
          <a:ext cx="11328116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9079"/>
                <a:gridCol w="999539"/>
                <a:gridCol w="6663599"/>
                <a:gridCol w="1665899"/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Đối tượng</a:t>
                      </a:r>
                    </a:p>
                  </a:txBody>
                  <a:tcPr marL="54000" marR="540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Số lượng</a:t>
                      </a:r>
                    </a:p>
                  </a:txBody>
                  <a:tcPr marL="54000" marR="540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Ví dụ tiêu biểu</a:t>
                      </a:r>
                    </a:p>
                  </a:txBody>
                  <a:tcPr marL="54000" marR="540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Kiểm thử</a:t>
                      </a:r>
                    </a:p>
                  </a:txBody>
                  <a:tcPr marL="54000" marR="54000">
                    <a:solidFill>
                      <a:srgbClr val="1F3864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Stored procedure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38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sp_DangKyHoc, sp_ThuHocPhi (JSON master–detail, SAVE TRANSACTION)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25 ca PASS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Function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13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fn_GoiYKhoaHoc, fn_BangDiemLop (inline / multi-statement TVF)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Trigger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11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sĩ số, tổng tiền phiếu thu, chặn trùng phòng, nhật ký JSON, INSTEAD OF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17 ca PASS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Cursor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sinh buổi học bỏ qua ngày lễ, tính lương, cảnh báo chuyên cần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so sánh set-based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2000" y="4068000"/>
            <a:ext cx="11328119" cy="1080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l"/>
            <a:r>
              <a:rPr sz="1800" b="0">
                <a:solidFill>
                  <a:srgbClr val="595959"/>
                </a:solidFill>
                <a:latin typeface="Times New Roman"/>
              </a:rPr>
              <a:t>Lỗi nghiệp vụ trả về bằng THROW 500xx với thông báo tiếng Việt → giao diện hiển thị nguyên văn.</a:t>
            </a:r>
          </a:p>
          <a:p>
            <a:pPr algn="l"/>
            <a:r>
              <a:rPr sz="1800" b="0">
                <a:solidFill>
                  <a:srgbClr val="595959"/>
                </a:solidFill>
                <a:latin typeface="Times New Roman"/>
              </a:rPr>
              <a:t>Mọi nghiệp vụ nhiều bước chạy trong transaction lồng được; trigger viết set-based.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90000"/>
            <a:ext cx="10392119" cy="648000"/>
          </a:xfrm>
          <a:prstGeom prst="rect">
            <a:avLst/>
          </a:prstGeom>
          <a:noFill/>
        </p:spPr>
        <p:txBody>
          <a:bodyPr wrap="square" anchor="ctr" lIns="72000" rIns="720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4. Trình bày thông tin – Menu và Form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19" y="72000"/>
            <a:ext cx="573295" cy="684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0000" y="6444001"/>
            <a:ext cx="11472119" cy="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480000"/>
            <a:ext cx="7920000" cy="288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Times New Roman"/>
              </a:rPr>
              <a:t>IE103 – Nhóm 1 · ECMS · Trình bày: Giang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2119" y="6480000"/>
            <a:ext cx="1080000" cy="288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Times New Roman"/>
              </a:rPr>
              <a:t>10</a:t>
            </a:r>
          </a:p>
        </p:txBody>
      </p:sp>
      <p:pic>
        <p:nvPicPr>
          <p:cNvPr id="8" name="Picture 7" descr="menu-t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192" y="1044000"/>
            <a:ext cx="2283616" cy="5274000"/>
          </a:xfrm>
          <a:prstGeom prst="rect">
            <a:avLst/>
          </a:prstGeom>
          <a:ln>
            <a:solidFill>
              <a:srgbClr val="BFBFBF"/>
            </a:solidFill>
          </a:ln>
        </p:spPr>
      </p:pic>
      <p:pic>
        <p:nvPicPr>
          <p:cNvPr id="9" name="Picture 8" descr="02_trang_chu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5200" y="1044000"/>
            <a:ext cx="4089600" cy="2556000"/>
          </a:xfrm>
          <a:prstGeom prst="rect">
            <a:avLst/>
          </a:prstGeom>
          <a:ln>
            <a:solidFill>
              <a:srgbClr val="BFBFBF"/>
            </a:solidFill>
          </a:ln>
        </p:spPr>
      </p:pic>
      <p:pic>
        <p:nvPicPr>
          <p:cNvPr id="10" name="Picture 9" descr="04_kiem_tra_nhap_lieu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6000" y="1062000"/>
            <a:ext cx="4031999" cy="2519999"/>
          </a:xfrm>
          <a:prstGeom prst="rect">
            <a:avLst/>
          </a:prstGeom>
          <a:ln>
            <a:solidFill>
              <a:srgbClr val="BFBFB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3528000" y="3780000"/>
            <a:ext cx="828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800" b="1">
                <a:solidFill>
                  <a:srgbClr val="1F3864"/>
                </a:solidFill>
                <a:latin typeface="Times New Roman"/>
              </a:rPr>
              <a:t>Menu rộng &amp; nông: </a:t>
            </a:r>
            <a:r>
              <a:rPr sz="1800">
                <a:latin typeface="Times New Roman"/>
              </a:rPr>
              <a:t>2 cấp, 8 nhóm theo nghiệp vụ, ẩn theo vai trò, chặn cả truy cập bằng URL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800" b="1">
                <a:solidFill>
                  <a:srgbClr val="1F3864"/>
                </a:solidFill>
                <a:latin typeface="Times New Roman"/>
              </a:rPr>
              <a:t>Form: </a:t>
            </a:r>
            <a:r>
              <a:rPr sz="1800">
                <a:latin typeface="Times New Roman"/>
              </a:rPr>
              <a:t>control theo kiểu dữ liệu, giá trị mặc định, lỗi hiện ngay dưới ô nhập + kiểm tra lần 2 tại CSDL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800">
                <a:latin typeface="Times New Roman"/>
              </a:rPr>
              <a:t>Ánh xạ mỗi form ↔ view / procedure / trigger – giao diện không truy cập bảng gốc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90000"/>
            <a:ext cx="10392119" cy="648000"/>
          </a:xfrm>
          <a:prstGeom prst="rect">
            <a:avLst/>
          </a:prstGeom>
          <a:noFill/>
        </p:spPr>
        <p:txBody>
          <a:bodyPr wrap="square" anchor="ctr" lIns="72000" rIns="720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4. Form master–detail và nhập liệu hàng loạt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19" y="72000"/>
            <a:ext cx="573295" cy="684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0000" y="6444001"/>
            <a:ext cx="11472119" cy="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480000"/>
            <a:ext cx="7920000" cy="288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Times New Roman"/>
              </a:rPr>
              <a:t>IE103 – Nhóm 1 · ECMS · Trình bày: Giang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2119" y="6480000"/>
            <a:ext cx="1080000" cy="288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Times New Roman"/>
              </a:rPr>
              <a:t>11</a:t>
            </a:r>
          </a:p>
        </p:txBody>
      </p:sp>
      <p:pic>
        <p:nvPicPr>
          <p:cNvPr id="8" name="Picture 7" descr="14_phieu_thu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00" y="1053000"/>
            <a:ext cx="5616000" cy="3510000"/>
          </a:xfrm>
          <a:prstGeom prst="rect">
            <a:avLst/>
          </a:prstGeom>
          <a:ln>
            <a:solidFill>
              <a:srgbClr val="BFBFBF"/>
            </a:solidFill>
          </a:ln>
        </p:spPr>
      </p:pic>
      <p:pic>
        <p:nvPicPr>
          <p:cNvPr id="9" name="Picture 8" descr="11_diem_dan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2000" y="1053000"/>
            <a:ext cx="5616000" cy="3510000"/>
          </a:xfrm>
          <a:prstGeom prst="rect">
            <a:avLst/>
          </a:prstGeom>
          <a:ln>
            <a:solidFill>
              <a:srgbClr val="BFBFBF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32000" y="4680000"/>
            <a:ext cx="5616000" cy="900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Times New Roman"/>
              </a:rPr>
              <a:t>Phiếu thu: 1 phiếu – nhiều đăng ký, thu một phần, lưu 1 giao dịch (sp_ThuHocPhi)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2000" y="4680000"/>
            <a:ext cx="5616000" cy="900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Times New Roman"/>
              </a:rPr>
              <a:t>Điểm danh / nhập điểm: lưới sửa trực tiếp, lưu cả lớp một lần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90000"/>
            <a:ext cx="10392119" cy="648000"/>
          </a:xfrm>
          <a:prstGeom prst="rect">
            <a:avLst/>
          </a:prstGeom>
          <a:noFill/>
        </p:spPr>
        <p:txBody>
          <a:bodyPr wrap="square" anchor="ctr" lIns="72000" rIns="720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4. Báo cáo và Dashboard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19" y="72000"/>
            <a:ext cx="573295" cy="684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0000" y="6444001"/>
            <a:ext cx="11472119" cy="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480000"/>
            <a:ext cx="7920000" cy="288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Times New Roman"/>
              </a:rPr>
              <a:t>IE103 – Nhóm 1 · ECMS · Trình bày: Giang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2119" y="6480000"/>
            <a:ext cx="1080000" cy="288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Times New Roman"/>
              </a:rPr>
              <a:t>12</a:t>
            </a:r>
          </a:p>
        </p:txBody>
      </p:sp>
      <p:pic>
        <p:nvPicPr>
          <p:cNvPr id="8" name="Picture 7" descr="16_dashboar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00" y="1044000"/>
            <a:ext cx="6105600" cy="3816000"/>
          </a:xfrm>
          <a:prstGeom prst="rect">
            <a:avLst/>
          </a:prstGeom>
          <a:ln>
            <a:solidFill>
              <a:srgbClr val="BFBFBF"/>
            </a:solidFill>
          </a:ln>
        </p:spPr>
      </p:pic>
      <p:pic>
        <p:nvPicPr>
          <p:cNvPr id="9" name="Picture 8" descr="20_pdf_doanh_thu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6000" y="1899182"/>
            <a:ext cx="2520000" cy="3563636"/>
          </a:xfrm>
          <a:prstGeom prst="rect">
            <a:avLst/>
          </a:prstGeom>
          <a:ln>
            <a:solidFill>
              <a:srgbClr val="BFBFBF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9324000" y="1044000"/>
            <a:ext cx="2520000" cy="52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600" b="1">
                <a:solidFill>
                  <a:srgbClr val="1F3864"/>
                </a:solidFill>
                <a:latin typeface="Times New Roman"/>
              </a:rPr>
              <a:t>9 báo cáo: </a:t>
            </a:r>
            <a:r>
              <a:rPr sz="1600">
                <a:latin typeface="Times New Roman"/>
              </a:rPr>
              <a:t>định kỳ, theo yêu cầu, tổng hợp, biểu mẫu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600">
                <a:latin typeface="Times New Roman"/>
              </a:rPr>
              <a:t>PDF + Excel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600">
                <a:latin typeface="Times New Roman"/>
              </a:rPr>
              <a:t>Dashboard 6 KPI so kỳ trước, đọc từ indexed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4968000"/>
            <a:ext cx="6120000" cy="900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ctr"/>
            <a:r>
              <a:rPr sz="1600" b="0">
                <a:solidFill>
                  <a:srgbClr val="595959"/>
                </a:solidFill>
                <a:latin typeface="Times New Roman"/>
              </a:rPr>
              <a:t>Dashboard – tầng Knowledge trong DIKW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90000"/>
            <a:ext cx="10392119" cy="648000"/>
          </a:xfrm>
          <a:prstGeom prst="rect">
            <a:avLst/>
          </a:prstGeom>
          <a:noFill/>
        </p:spPr>
        <p:txBody>
          <a:bodyPr wrap="square" anchor="ctr" lIns="72000" rIns="720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5. Mô hình CSDL tiên tiến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19" y="72000"/>
            <a:ext cx="573295" cy="684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0000" y="6444001"/>
            <a:ext cx="11472119" cy="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480000"/>
            <a:ext cx="7920000" cy="288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Times New Roman"/>
              </a:rPr>
              <a:t>IE103 – Nhóm 1 · ECMS · Trình bày: Trâm · Phú · Dương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2119" y="6480000"/>
            <a:ext cx="1080000" cy="288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Times New Roman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2000" y="1116000"/>
          <a:ext cx="11328116" cy="31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296"/>
                <a:gridCol w="1973838"/>
                <a:gridCol w="1973838"/>
                <a:gridCol w="2574572"/>
                <a:gridCol w="2574572"/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Tiêu chí</a:t>
                      </a:r>
                    </a:p>
                  </a:txBody>
                  <a:tcPr marL="54000" marR="540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Quan hệ</a:t>
                      </a:r>
                    </a:p>
                  </a:txBody>
                  <a:tcPr marL="54000" marR="540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Hướng đối tượng</a:t>
                      </a:r>
                    </a:p>
                  </a:txBody>
                  <a:tcPr marL="54000" marR="540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Phân tán (theo chi nhánh)</a:t>
                      </a:r>
                    </a:p>
                  </a:txBody>
                  <a:tcPr marL="54000" marR="540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NoSQL (MongoDB)</a:t>
                      </a:r>
                    </a:p>
                  </a:txBody>
                  <a:tcPr marL="54000" marR="54000">
                    <a:solidFill>
                      <a:srgbClr val="1F3864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Mô hình hoá ECMS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Tốt, tách bảng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Tự nhiên nhất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Như quan hệ + phân mảnh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Tự nhiên cho hồ sơ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Toàn vẹn &amp; giao dịch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Mạnh nhất (ACID)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Trong phương thức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ACID cục bộ, 2PC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Yếu, không FK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Báo cáo thống kê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Mạnh nhất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Yếu (N+1)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Tốt nếu cục bộ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Khá (aggregation)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Đọc 1 hồ sơ trọn vẹn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Nhiều JOIN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Duyệt đối tượng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Như quan hệ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Nhanh nhất – 1 document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Mở rộng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Dọc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Dọc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Ngang theo chi nhánh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Ngang (sharding)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Demo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ODL + mapper Python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 trạm + partitioned view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4 collection, 6 cặp truy vấn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2000" y="4500000"/>
            <a:ext cx="11328119" cy="720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Times New Roman"/>
              </a:rPr>
              <a:t>Kết luận: quan hệ tập trung là lựa chọn chính; phân tán khi mở rộng nhiều tỉnh; NoSQL làm kho phụ (polyglot persistence).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90000"/>
            <a:ext cx="10392119" cy="648000"/>
          </a:xfrm>
          <a:prstGeom prst="rect">
            <a:avLst/>
          </a:prstGeom>
          <a:noFill/>
        </p:spPr>
        <p:txBody>
          <a:bodyPr wrap="square" anchor="ctr" lIns="72000" rIns="720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6. Kiểm thử tích hợp và CI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19" y="72000"/>
            <a:ext cx="573295" cy="684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0000" y="6444001"/>
            <a:ext cx="11472119" cy="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480000"/>
            <a:ext cx="7920000" cy="288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Times New Roman"/>
              </a:rPr>
              <a:t>IE103 – Nhóm 1 · ECMS · Trình bày: Như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2119" y="6480000"/>
            <a:ext cx="1080000" cy="288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Times New Roman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2000" y="1116000"/>
          <a:ext cx="6120000" cy="28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000"/>
                <a:gridCol w="2448000"/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Bước</a:t>
                      </a:r>
                    </a:p>
                  </a:txBody>
                  <a:tcPr marL="54000" marR="540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Kết quả</a:t>
                      </a:r>
                    </a:p>
                  </a:txBody>
                  <a:tcPr marL="54000" marR="54000">
                    <a:solidFill>
                      <a:srgbClr val="1F3864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Dựng CSDL 01 → 09 từ CSDL trống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≈ 10 giây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Kiểm tra dữ liệu mẫu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11 kiểm tra, 0 lỗi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Procedure / trigger / phân quyền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25 / 17 / 36 ca PASS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31 truy vấn nghiệp vụ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chạy hết, không lỗi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Smoke test mọi trang × 5 vai trò + mọi báo cáo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52 passed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983999" y="1044000"/>
            <a:ext cx="4824000" cy="52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800" b="1">
                <a:solidFill>
                  <a:srgbClr val="1F3864"/>
                </a:solidFill>
                <a:latin typeface="Times New Roman"/>
              </a:rPr>
              <a:t>GitHub Actions: </a:t>
            </a:r>
            <a:r>
              <a:rPr sz="1800">
                <a:latin typeface="Times New Roman"/>
              </a:rPr>
              <a:t>SQL Server 2025 (Docker) → run_all → test SQL → pytest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800">
                <a:latin typeface="Times New Roman"/>
              </a:rPr>
              <a:t>Bắt buộc xanh trước khi merge develop → main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800" b="1">
                <a:solidFill>
                  <a:srgbClr val="1F3864"/>
                </a:solidFill>
                <a:latin typeface="Times New Roman"/>
              </a:rPr>
              <a:t>Quy trình nhóm: </a:t>
            </a:r>
            <a:r>
              <a:rPr sz="1800">
                <a:latin typeface="Times New Roman"/>
              </a:rPr>
              <a:t>29 task = 29 issue = 29 PR vào develop, review bởi nhóm trưởng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800">
                <a:latin typeface="Times New Roman"/>
              </a:rPr>
              <a:t>Phát hành v1.0.0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90000"/>
            <a:ext cx="10392119" cy="648000"/>
          </a:xfrm>
          <a:prstGeom prst="rect">
            <a:avLst/>
          </a:prstGeom>
          <a:noFill/>
        </p:spPr>
        <p:txBody>
          <a:bodyPr wrap="square" anchor="ctr" lIns="72000" rIns="720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Kịch bản demo (≈ 5 phút)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19" y="72000"/>
            <a:ext cx="573295" cy="684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0000" y="6444001"/>
            <a:ext cx="11472119" cy="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480000"/>
            <a:ext cx="7920000" cy="288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Times New Roman"/>
              </a:rPr>
              <a:t>IE103 – Nhóm 1 · ECMS · Trình bày: Cả nhóm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2119" y="6480000"/>
            <a:ext cx="1080000" cy="288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Times New Roman"/>
              </a:rP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2000" y="1116000"/>
          <a:ext cx="11328117" cy="34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526"/>
                <a:gridCol w="1576086"/>
                <a:gridCol w="4925269"/>
                <a:gridCol w="4334236"/>
              </a:tblGrid>
              <a:tr h="4860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#</a:t>
                      </a:r>
                    </a:p>
                  </a:txBody>
                  <a:tcPr marL="54000" marR="540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Vai trò</a:t>
                      </a:r>
                    </a:p>
                  </a:txBody>
                  <a:tcPr marL="54000" marR="540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Thao tác</a:t>
                      </a:r>
                    </a:p>
                  </a:txBody>
                  <a:tcPr marL="54000" marR="540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Điểm nhấn</a:t>
                      </a:r>
                    </a:p>
                  </a:txBody>
                  <a:tcPr marL="54000" marR="54000">
                    <a:solidFill>
                      <a:srgbClr val="1F3864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Giáo vụ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Mở lớp → xếp lịch → sinh buổi học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Chặn trùng phòng, bỏ qua ngày lễ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Giáo vụ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Kiểm tra đầu vào → ghi danh (thử lớp đầy)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XML Schema, lỗi 'Lớp đã đủ sĩ số'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Kế toán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Lập phiếu thu 2 khoản → in PDF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Master–detail, số tiền bằng chữ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Giáo viên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Điểm danh → nhập điểm → quét cảnh báo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Trigger tính kết quả, cursor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Học viên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Xem lịch tuần, điểm, học phí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Chỉ thấy dữ liệu của mình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Quản lý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Dashboard → nhật ký hệ thống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Ai đã thao tác gì, lúc nào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90000"/>
            <a:ext cx="10392119" cy="648000"/>
          </a:xfrm>
          <a:prstGeom prst="rect">
            <a:avLst/>
          </a:prstGeom>
          <a:noFill/>
        </p:spPr>
        <p:txBody>
          <a:bodyPr wrap="square" anchor="ctr" lIns="72000" rIns="720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Phân công và đóng góp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19" y="72000"/>
            <a:ext cx="573295" cy="684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0000" y="6444001"/>
            <a:ext cx="11472119" cy="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480000"/>
            <a:ext cx="7920000" cy="288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Times New Roman"/>
              </a:rPr>
              <a:t>IE103 – Nhóm 1 · ECMS · Trình bày: Như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2119" y="6480000"/>
            <a:ext cx="1080000" cy="288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Times New Roman"/>
              </a:rPr>
              <a:t>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2000" y="1116000"/>
          <a:ext cx="11328117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7250"/>
                <a:gridCol w="2183733"/>
                <a:gridCol w="6141751"/>
                <a:gridCol w="955383"/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Thành viên</a:t>
                      </a:r>
                    </a:p>
                  </a:txBody>
                  <a:tcPr marL="54000" marR="540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Task</a:t>
                      </a:r>
                    </a:p>
                  </a:txBody>
                  <a:tcPr marL="54000" marR="540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Phụ trách chính</a:t>
                      </a:r>
                    </a:p>
                  </a:txBody>
                  <a:tcPr marL="54000" marR="540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Đóng góp</a:t>
                      </a:r>
                    </a:p>
                  </a:txBody>
                  <a:tcPr marL="54000" marR="54000">
                    <a:solidFill>
                      <a:srgbClr val="1F3864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Trương Quang Như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T01–T03, T15, T19, T29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Quản lý dự án, Chương 1, môi trường, phân quyền, khung web, CI, tổng hợp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20%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Đỗ Phạm Minh Trâm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T04–T07, T20, T25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ERD, Class Diagram, lược đồ, DDL, trang Đào tạo, CSDL hướng đối tượng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20%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Đỗ Bình Dương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T08–T10, T18, T21, T27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Dữ liệu mẫu, truy vấn, XML, nhập / xuất, trang Học viên, NoSQL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20%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Nguyễn Việt Phú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T11–T14, T22, T26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Procedure, function, trigger, cursor, trang Học tập, CSDL phân tán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20%</a:t>
                      </a:r>
                    </a:p>
                  </a:txBody>
                  <a:tcPr marL="54000" marR="54000">
                    <a:solidFill>
                      <a:srgbClr val="E7ECF5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Nguyễn Bảo Giang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T16, T17, T23, T24, T28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View, sao lưu, trang Tài chính, báo cáo &amp; dashboard, Chương 4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20%</a:t>
                      </a:r>
                    </a:p>
                  </a:txBody>
                  <a:tcPr marL="54000" marR="54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90000"/>
            <a:ext cx="10392119" cy="648000"/>
          </a:xfrm>
          <a:prstGeom prst="rect">
            <a:avLst/>
          </a:prstGeom>
          <a:noFill/>
        </p:spPr>
        <p:txBody>
          <a:bodyPr wrap="square" anchor="ctr" lIns="72000" rIns="720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imes New Roman"/>
              </a:rPr>
              <a:t>Kết luận và hướng phát triển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119" y="72000"/>
            <a:ext cx="573295" cy="684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0000" y="6444001"/>
            <a:ext cx="11472119" cy="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480000"/>
            <a:ext cx="7920000" cy="288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Times New Roman"/>
              </a:rPr>
              <a:t>IE103 – Nhóm 1 · ECMS · Trình bày: Như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2119" y="6480000"/>
            <a:ext cx="1080000" cy="288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Times New Roman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044000"/>
            <a:ext cx="5580000" cy="52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900" b="1">
                <a:solidFill>
                  <a:srgbClr val="1F3864"/>
                </a:solidFill>
                <a:latin typeface="Times New Roman"/>
              </a:rPr>
              <a:t>Đạt được: </a:t>
            </a:r>
            <a:r>
              <a:rPr sz="1900">
                <a:latin typeface="Times New Roman"/>
              </a:rPr>
              <a:t>đủ 22 yêu cầu chức năng, đi qua đủ quy trình QLTT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E75B6"/>
                </a:solidFill>
                <a:latin typeface="Times New Roman"/>
              </a:rPr>
              <a:t>      –  </a:t>
            </a:r>
            <a:r>
              <a:rPr sz="1700">
                <a:latin typeface="Times New Roman"/>
              </a:rPr>
              <a:t>Thu thập → Tổ chức → Xử lý → Trình bày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E75B6"/>
                </a:solidFill>
                <a:latin typeface="Times New Roman"/>
              </a:rPr>
              <a:t>      –  </a:t>
            </a:r>
            <a:r>
              <a:rPr sz="1700">
                <a:latin typeface="Times New Roman"/>
              </a:rPr>
              <a:t>Luật nghiệp vụ nằm trong CSDL, không thể bị bỏ qua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E75B6"/>
                </a:solidFill>
                <a:latin typeface="Times New Roman"/>
              </a:rPr>
              <a:t>      –  </a:t>
            </a:r>
            <a:r>
              <a:rPr sz="1700">
                <a:latin typeface="Times New Roman"/>
              </a:rPr>
              <a:t>Tái lập từ đầu bằng một lệnh, CI tự động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900" b="1">
                <a:solidFill>
                  <a:srgbClr val="1F3864"/>
                </a:solidFill>
                <a:latin typeface="Times New Roman"/>
              </a:rPr>
              <a:t>Hạn chế: </a:t>
            </a:r>
            <a:r>
              <a:rPr sz="1900">
                <a:latin typeface="Times New Roman"/>
              </a:rPr>
              <a:t>dữ liệu nhỏ, giao diện chưa tối ưu di động, phân tán mới mô phỏng trên 1 máy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000" y="1044000"/>
            <a:ext cx="5472000" cy="527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E75B6"/>
                </a:solidFill>
                <a:latin typeface="Times New Roman"/>
              </a:rPr>
              <a:t>■  </a:t>
            </a:r>
            <a:r>
              <a:rPr sz="1900">
                <a:latin typeface="Times New Roman"/>
              </a:rPr>
              <a:t>Hướng phát triển: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E75B6"/>
                </a:solidFill>
                <a:latin typeface="Times New Roman"/>
              </a:rPr>
              <a:t>      –  </a:t>
            </a:r>
            <a:r>
              <a:rPr sz="1700">
                <a:latin typeface="Times New Roman"/>
              </a:rPr>
              <a:t>Cổng học viên / phụ huynh, thanh toán online, thông báo vắng học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E75B6"/>
                </a:solidFill>
                <a:latin typeface="Times New Roman"/>
              </a:rPr>
              <a:t>      –  </a:t>
            </a:r>
            <a:r>
              <a:rPr sz="1700">
                <a:latin typeface="Times New Roman"/>
              </a:rPr>
              <a:t>REST API + frontend di động, giữ lớp procedure / view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E75B6"/>
                </a:solidFill>
                <a:latin typeface="Times New Roman"/>
              </a:rPr>
              <a:t>      –  </a:t>
            </a:r>
            <a:r>
              <a:rPr sz="1700">
                <a:latin typeface="Times New Roman"/>
              </a:rPr>
              <a:t>Redis cache, MongoDB đồng bộ CDC cho cổng học viên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E75B6"/>
                </a:solidFill>
                <a:latin typeface="Times New Roman"/>
              </a:rPr>
              <a:t>      –  </a:t>
            </a:r>
            <a:r>
              <a:rPr sz="1700">
                <a:latin typeface="Times New Roman"/>
              </a:rPr>
              <a:t>Kho dữ liệu và dự báo học viên bỏ học (tầng Wisdom)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60000"/>
            <a:ext cx="12192119" cy="1080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Times New Roman"/>
              </a:rPr>
              <a:t>CẢM ƠN THẦY VÀ CÁC BẠN ĐÃ LẮNG NGHE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20000"/>
            <a:ext cx="12192119" cy="720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Times New Roman"/>
              </a:rPr>
              <a:t>Hỏi &amp; đáp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860000"/>
            <a:ext cx="12192119" cy="540000"/>
          </a:xfrm>
          <a:prstGeom prst="rect">
            <a:avLst/>
          </a:prstGeom>
          <a:noFill/>
        </p:spPr>
        <p:txBody>
          <a:bodyPr wrap="square" anchor="t" lIns="72000" rIns="7200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Times New Roman"/>
              </a:rPr>
              <a:t>github.com/nhutruong-uit/ecms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